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6" r:id="rId2"/>
    <p:sldId id="257" r:id="rId3"/>
    <p:sldId id="258" r:id="rId4"/>
    <p:sldId id="278" r:id="rId5"/>
    <p:sldId id="259" r:id="rId6"/>
    <p:sldId id="268" r:id="rId7"/>
    <p:sldId id="260" r:id="rId8"/>
    <p:sldId id="270" r:id="rId9"/>
    <p:sldId id="261" r:id="rId10"/>
    <p:sldId id="271" r:id="rId11"/>
    <p:sldId id="262" r:id="rId12"/>
    <p:sldId id="272" r:id="rId13"/>
    <p:sldId id="263" r:id="rId14"/>
    <p:sldId id="273" r:id="rId15"/>
    <p:sldId id="264" r:id="rId16"/>
    <p:sldId id="274" r:id="rId17"/>
    <p:sldId id="265" r:id="rId18"/>
    <p:sldId id="275" r:id="rId19"/>
    <p:sldId id="266" r:id="rId20"/>
    <p:sldId id="276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7" r:id="rId29"/>
    <p:sldId id="286" r:id="rId30"/>
  </p:sldIdLst>
  <p:sldSz cx="12192000" cy="6858000"/>
  <p:notesSz cx="6858000" cy="9144000"/>
  <p:embeddedFontLst>
    <p:embeddedFont>
      <p:font typeface="Baguet Script" panose="00000500000000000000" pitchFamily="2" charset="0"/>
      <p:regular r:id="rId31"/>
    </p:embeddedFont>
    <p:embeddedFont>
      <p:font typeface="Bell MT" panose="02020503060305020303" pitchFamily="18" charset="0"/>
      <p:regular r:id="rId32"/>
      <p:bold r:id="rId33"/>
      <p:italic r:id="rId34"/>
    </p:embeddedFont>
    <p:embeddedFont>
      <p:font typeface="Berlin Sans FB" panose="020E0602020502020306" pitchFamily="34" charset="0"/>
      <p:regular r:id="rId35"/>
      <p:bold r:id="rId36"/>
    </p:embeddedFont>
    <p:embeddedFont>
      <p:font typeface="Centaur Now Text" pitchFamily="2" charset="0"/>
      <p:regular r:id="rId37"/>
      <p:bold r:id="rId38"/>
      <p:italic r:id="rId39"/>
      <p:boldItalic r:id="rId40"/>
    </p:embeddedFont>
    <p:embeddedFont>
      <p:font typeface="Copperplate Gothic Light" panose="020E0507020206020404" pitchFamily="34" charset="0"/>
      <p:regular r:id="rId41"/>
    </p:embeddedFont>
    <p:embeddedFont>
      <p:font typeface="Dreaming Outloud Pro" panose="03050502040302030504" pitchFamily="66" charset="0"/>
      <p:regular r:id="rId42"/>
      <p:italic r:id="rId43"/>
    </p:embeddedFont>
    <p:embeddedFont>
      <p:font typeface="Footlight MT Light" panose="0204060206030A020304" pitchFamily="18" charset="0"/>
      <p:regular r:id="rId44"/>
    </p:embeddedFont>
    <p:embeddedFont>
      <p:font typeface="Modern No. 20" panose="02070704070505020303" pitchFamily="18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BE6C"/>
    <a:srgbClr val="F2DFF0"/>
    <a:srgbClr val="DAE5A5"/>
    <a:srgbClr val="D47FBE"/>
    <a:srgbClr val="388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36" dt="2026-09-15T10:08:11.268"/>
    <p1510:client id="{4007FDF3-92EA-3DAE-0022-948864D61F7F}" v="914" dt="2026-09-15T05:20:12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0"/>
  </p:normalViewPr>
  <p:slideViewPr>
    <p:cSldViewPr snapToGrid="0">
      <p:cViewPr varScale="1">
        <p:scale>
          <a:sx n="78" d="100"/>
          <a:sy n="78" d="100"/>
        </p:scale>
        <p:origin x="11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8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8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50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87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55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2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4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1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5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1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016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ame Background Design Studio | Hire Gaming Background Artists">
            <a:extLst>
              <a:ext uri="{FF2B5EF4-FFF2-40B4-BE49-F238E27FC236}">
                <a16:creationId xmlns:a16="http://schemas.microsoft.com/office/drawing/2014/main" id="{A3F6442F-DE63-12A4-84B2-E0232281E8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2619" y="-3219"/>
            <a:ext cx="12205316" cy="68622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62F1F2-E44D-3F2D-C1D6-14F36D81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1301" y="122028"/>
            <a:ext cx="8810255" cy="6610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A5CFC2-A382-C76F-F53D-BEC3B85CF2F6}"/>
              </a:ext>
            </a:extLst>
          </p:cNvPr>
          <p:cNvSpPr txBox="1"/>
          <p:nvPr/>
        </p:nvSpPr>
        <p:spPr>
          <a:xfrm>
            <a:off x="6070832" y="1009040"/>
            <a:ext cx="5583252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800">
                <a:latin typeface="Modern No. 20"/>
              </a:rPr>
              <a:t>LIFE RPG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42B3A-3847-D025-58B5-72D5254BA15A}"/>
              </a:ext>
            </a:extLst>
          </p:cNvPr>
          <p:cNvSpPr txBox="1"/>
          <p:nvPr/>
        </p:nvSpPr>
        <p:spPr>
          <a:xfrm>
            <a:off x="5985029" y="2156534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accent2">
                    <a:lumMod val="20000"/>
                    <a:lumOff val="80000"/>
                  </a:schemeClr>
                </a:solidFill>
                <a:latin typeface="Dreaming Outloud Pro"/>
                <a:cs typeface="Dreaming Outloud Pro"/>
              </a:rPr>
              <a:t>Turn Your Everyday Life Into an Adventure</a:t>
            </a:r>
          </a:p>
          <a:p>
            <a:pPr algn="ctr"/>
            <a:endParaRPr lang="en-US" sz="2400">
              <a:latin typeface="Dreaming Outloud Pro"/>
              <a:cs typeface="Dreaming Outloud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F5005-8302-427F-86DA-4DD4CBE61FDB}"/>
              </a:ext>
            </a:extLst>
          </p:cNvPr>
          <p:cNvSpPr txBox="1"/>
          <p:nvPr/>
        </p:nvSpPr>
        <p:spPr>
          <a:xfrm>
            <a:off x="5474563" y="2985117"/>
            <a:ext cx="6776621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Centaur Now Text"/>
                <a:cs typeface="Centaur Now Text"/>
              </a:rPr>
              <a:t>A Gamified Personal Productivity </a:t>
            </a:r>
            <a:endParaRPr lang="en-US">
              <a:latin typeface="Centaur Now Text"/>
              <a:cs typeface="Centaur Now Text"/>
            </a:endParaRPr>
          </a:p>
          <a:p>
            <a:pPr algn="ctr"/>
            <a:r>
              <a:rPr lang="en-US" sz="3200" b="1">
                <a:latin typeface="Centaur Now Text"/>
                <a:cs typeface="Centaur Now Text"/>
              </a:rPr>
              <a:t>&amp; </a:t>
            </a:r>
          </a:p>
          <a:p>
            <a:pPr algn="ctr"/>
            <a:r>
              <a:rPr lang="en-US" sz="3200" b="1">
                <a:latin typeface="Centaur Now Text"/>
                <a:cs typeface="Centaur Now Text"/>
              </a:rPr>
              <a:t>Goal Management Application</a:t>
            </a:r>
            <a:endParaRPr lang="en-US">
              <a:latin typeface="Centaur Now Text"/>
              <a:cs typeface="Centaur Now Text"/>
            </a:endParaRPr>
          </a:p>
          <a:p>
            <a:pPr algn="ctr"/>
            <a:endParaRPr lang="en-US" sz="3200">
              <a:latin typeface="Centaur Now Text"/>
              <a:cs typeface="Centaur Now Text"/>
            </a:endParaRPr>
          </a:p>
        </p:txBody>
      </p:sp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1EA960C-95D9-5BBC-3AD7-355D91A41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9424" y="1522215"/>
            <a:ext cx="4058816" cy="4984103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025D4D3-54CB-A008-BEDB-01A8DF206FC7}"/>
              </a:ext>
            </a:extLst>
          </p:cNvPr>
          <p:cNvSpPr txBox="1"/>
          <p:nvPr/>
        </p:nvSpPr>
        <p:spPr>
          <a:xfrm>
            <a:off x="-6759273" y="1274285"/>
            <a:ext cx="6545704" cy="526297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Berlin Sans FB"/>
              </a:rPr>
              <a:t>Life RPG</a:t>
            </a:r>
            <a:r>
              <a:rPr lang="en-US" sz="2800" dirty="0">
                <a:latin typeface="Berlin Sans FB"/>
              </a:rPr>
              <a:t> is a mobile application that combines </a:t>
            </a:r>
            <a:r>
              <a:rPr lang="en-US" sz="2800" b="1" dirty="0">
                <a:latin typeface="Berlin Sans FB"/>
              </a:rPr>
              <a:t>everyday productivity with RPG-style gaming</a:t>
            </a:r>
            <a:r>
              <a:rPr lang="en-US" sz="2800" dirty="0">
                <a:latin typeface="Berlin Sans FB"/>
              </a:rPr>
              <a:t>.</a:t>
            </a:r>
          </a:p>
          <a:p>
            <a:pPr algn="ctr"/>
            <a:endParaRPr lang="en-US" sz="2800" dirty="0">
              <a:latin typeface="Berlin Sans FB"/>
            </a:endParaRPr>
          </a:p>
          <a:p>
            <a:pPr algn="ctr"/>
            <a:endParaRPr lang="en-US" sz="2800" dirty="0">
              <a:latin typeface="Berlin Sans FB"/>
            </a:endParaRPr>
          </a:p>
          <a:p>
            <a:pPr algn="ctr"/>
            <a:endParaRPr lang="en-US" sz="2800" dirty="0">
              <a:latin typeface="Berlin Sans FB"/>
            </a:endParaRPr>
          </a:p>
          <a:p>
            <a:pPr algn="ctr"/>
            <a:endParaRPr lang="en-US" sz="2800" dirty="0">
              <a:latin typeface="Berlin Sans FB"/>
            </a:endParaRPr>
          </a:p>
          <a:p>
            <a:pPr algn="ctr"/>
            <a:r>
              <a:rPr lang="en-US" sz="2800" dirty="0">
                <a:latin typeface="Berlin Sans FB"/>
              </a:rPr>
              <a:t>Instead of treating tasks as simple to-do items, the application transforms them into quests that users can complete to earn XP, level up their character, improve stats, and unlock rewar</a:t>
            </a:r>
            <a:r>
              <a:rPr lang="en-US" sz="2800" b="1" dirty="0"/>
              <a:t>d</a:t>
            </a:r>
            <a:r>
              <a:rPr lang="en-US" sz="2800" dirty="0">
                <a:latin typeface="Berlin Sans FB"/>
              </a:rPr>
              <a:t>s</a:t>
            </a:r>
            <a:r>
              <a:rPr lang="en-US" sz="28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333721-23A5-6B79-D297-0409A5B5B59B}"/>
              </a:ext>
            </a:extLst>
          </p:cNvPr>
          <p:cNvSpPr txBox="1"/>
          <p:nvPr/>
        </p:nvSpPr>
        <p:spPr>
          <a:xfrm>
            <a:off x="6483684" y="4852737"/>
            <a:ext cx="4277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/>
              <a:t>REET | ASHNA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r game background Photos - Download Free High-Quality Pictures | Magnific (formerly Freepik)">
            <a:extLst>
              <a:ext uri="{FF2B5EF4-FFF2-40B4-BE49-F238E27FC236}">
                <a16:creationId xmlns:a16="http://schemas.microsoft.com/office/drawing/2014/main" id="{3EB93BDF-BD69-5E01-D730-C4F19A97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8243" b="717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B91248-60EC-9E0C-487D-E716D19C365C}"/>
              </a:ext>
            </a:extLst>
          </p:cNvPr>
          <p:cNvSpPr txBox="1"/>
          <p:nvPr/>
        </p:nvSpPr>
        <p:spPr>
          <a:xfrm>
            <a:off x="1524000" y="-743760"/>
            <a:ext cx="9144000" cy="29005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solidFill>
                  <a:srgbClr val="FFFFFF"/>
                </a:solidFill>
                <a:latin typeface="Modern No. 20"/>
                <a:ea typeface="+mj-ea"/>
                <a:cs typeface="+mj-cs"/>
              </a:rPr>
              <a:t>INTRODUCTION</a:t>
            </a:r>
            <a:endParaRPr lang="en-US" sz="6000">
              <a:solidFill>
                <a:srgbClr val="FFFFFF"/>
              </a:solidFill>
              <a:latin typeface="Modern No. 20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>
              <a:solidFill>
                <a:srgbClr val="FFFFFF"/>
              </a:solidFill>
              <a:latin typeface="Modern No. 2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782C0-383D-9A4E-6F4B-0642DF46456E}"/>
              </a:ext>
            </a:extLst>
          </p:cNvPr>
          <p:cNvSpPr txBox="1"/>
          <p:nvPr/>
        </p:nvSpPr>
        <p:spPr>
          <a:xfrm>
            <a:off x="379853" y="1474033"/>
            <a:ext cx="6545704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Berlin Sans FB"/>
              </a:rPr>
              <a:t>Life RPG</a:t>
            </a:r>
            <a:r>
              <a:rPr lang="en-US" sz="2800">
                <a:latin typeface="Berlin Sans FB"/>
              </a:rPr>
              <a:t> is a mobile application that combines </a:t>
            </a:r>
            <a:r>
              <a:rPr lang="en-US" sz="2800" b="1">
                <a:latin typeface="Berlin Sans FB"/>
              </a:rPr>
              <a:t>everyday productivity with RPG-style gaming</a:t>
            </a:r>
            <a:r>
              <a:rPr lang="en-US" sz="2800">
                <a:latin typeface="Berlin Sans FB"/>
              </a:rPr>
              <a:t>.</a:t>
            </a:r>
          </a:p>
          <a:p>
            <a:pPr algn="ctr"/>
            <a:endParaRPr lang="en-US" sz="2800">
              <a:latin typeface="Berlin Sans FB"/>
            </a:endParaRPr>
          </a:p>
          <a:p>
            <a:pPr algn="ctr"/>
            <a:endParaRPr lang="en-US" sz="2800">
              <a:latin typeface="Berlin Sans FB"/>
            </a:endParaRPr>
          </a:p>
          <a:p>
            <a:pPr algn="ctr"/>
            <a:endParaRPr lang="en-US" sz="2800">
              <a:latin typeface="Berlin Sans FB"/>
            </a:endParaRPr>
          </a:p>
          <a:p>
            <a:pPr algn="ctr"/>
            <a:endParaRPr lang="en-US" sz="2800">
              <a:latin typeface="Berlin Sans FB"/>
            </a:endParaRPr>
          </a:p>
          <a:p>
            <a:pPr algn="ctr"/>
            <a:r>
              <a:rPr lang="en-US" sz="2800">
                <a:latin typeface="Berlin Sans FB"/>
              </a:rPr>
              <a:t>Instead of treating tasks as simple to-do items, the application transforms them into quests that users can complete to earn XP, level up their character, improve stats, and unlock rewar</a:t>
            </a:r>
            <a:r>
              <a:rPr lang="en-US" sz="2800" b="1"/>
              <a:t>d</a:t>
            </a:r>
            <a:r>
              <a:rPr lang="en-US" sz="2800">
                <a:latin typeface="Berlin Sans FB"/>
              </a:rPr>
              <a:t>s</a:t>
            </a:r>
            <a:r>
              <a:rPr lang="en-US" sz="2800"/>
              <a:t>.</a:t>
            </a:r>
          </a:p>
          <a:p>
            <a:pPr algn="ctr"/>
            <a:endParaRPr lang="en-US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0240A9-0D0B-0490-A843-91D1CE108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490" y="1578428"/>
            <a:ext cx="4058816" cy="4984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62C3DB-F766-5B45-436E-D1B31B43AADC}"/>
              </a:ext>
            </a:extLst>
          </p:cNvPr>
          <p:cNvSpPr txBox="1"/>
          <p:nvPr/>
        </p:nvSpPr>
        <p:spPr>
          <a:xfrm>
            <a:off x="-3343922" y="1054223"/>
            <a:ext cx="3210759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accent5">
                    <a:lumMod val="20000"/>
                    <a:lumOff val="80000"/>
                  </a:schemeClr>
                </a:solidFill>
                <a:latin typeface="Modern No. 20"/>
              </a:rPr>
              <a:t>Life RPG transforms everyday goals into an interactive journey — turning tasks into quests, progress into XP, and achievements into rewards.</a:t>
            </a:r>
          </a:p>
          <a:p>
            <a:pPr algn="ctr"/>
            <a:endParaRPr lang="en-US" sz="3200">
              <a:solidFill>
                <a:schemeClr val="accent5">
                  <a:lumMod val="20000"/>
                  <a:lumOff val="80000"/>
                </a:schemeClr>
              </a:solidFill>
              <a:latin typeface="Modern No. 20"/>
            </a:endParaRPr>
          </a:p>
        </p:txBody>
      </p:sp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D5F4F476-8512-74A0-9363-EC9948E0D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6768" y="16557"/>
            <a:ext cx="10159805" cy="684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0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199BCA-2FE1-4587-ABAA-BE3CA82178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86C005-6740-AD33-932A-AE8D63C55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518" y="16557"/>
            <a:ext cx="10159805" cy="6842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B6C684-AE51-1FDB-E2A0-725B7986AA67}"/>
              </a:ext>
            </a:extLst>
          </p:cNvPr>
          <p:cNvSpPr txBox="1"/>
          <p:nvPr/>
        </p:nvSpPr>
        <p:spPr>
          <a:xfrm>
            <a:off x="251534" y="891466"/>
            <a:ext cx="3210759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accent5">
                    <a:lumMod val="20000"/>
                    <a:lumOff val="80000"/>
                  </a:schemeClr>
                </a:solidFill>
                <a:latin typeface="Modern No. 20"/>
              </a:rPr>
              <a:t>Life RPG transforms everyday goals into an interactive journey — turning tasks into quests, progress into XP, and achievements into rewards.</a:t>
            </a:r>
          </a:p>
          <a:p>
            <a:pPr algn="ctr"/>
            <a:endParaRPr lang="en-US" sz="3200">
              <a:solidFill>
                <a:schemeClr val="accent5">
                  <a:lumMod val="20000"/>
                  <a:lumOff val="80000"/>
                </a:schemeClr>
              </a:solidFill>
              <a:latin typeface="Modern No. 20"/>
            </a:endParaRPr>
          </a:p>
        </p:txBody>
      </p:sp>
    </p:spTree>
    <p:extLst>
      <p:ext uri="{BB962C8B-B14F-4D97-AF65-F5344CB8AC3E}">
        <p14:creationId xmlns:p14="http://schemas.microsoft.com/office/powerpoint/2010/main" val="308332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E0564-E3AE-C83C-B12B-8AF97E8B1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C4BB90-327B-F396-F0CF-8F452ED0D7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4F23D8-6E8D-9A6B-50E0-8660EAD19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49" y="2257346"/>
            <a:ext cx="2061667" cy="4600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8D3DCC-FACE-A8C6-D8DB-1CD46E153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80" y="2246769"/>
            <a:ext cx="2066407" cy="4611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FB3815-EE72-83E4-7E33-76B85EFDF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690" y="2246768"/>
            <a:ext cx="2066408" cy="4611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18237-680E-3050-9B13-E3C7D3B836E6}"/>
              </a:ext>
            </a:extLst>
          </p:cNvPr>
          <p:cNvSpPr txBox="1"/>
          <p:nvPr/>
        </p:nvSpPr>
        <p:spPr>
          <a:xfrm>
            <a:off x="976746" y="57179"/>
            <a:ext cx="396826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Bell MT" panose="02020503060305020303" pitchFamily="18" charset="77"/>
              </a:rPr>
              <a:t>1. Login — </a:t>
            </a:r>
          </a:p>
          <a:p>
            <a:pPr>
              <a:buNone/>
            </a:pPr>
            <a:r>
              <a:rPr lang="en-IN" sz="1200" b="1" dirty="0" err="1">
                <a:latin typeface="Bell MT" panose="02020503060305020303" pitchFamily="18" charset="77"/>
              </a:rPr>
              <a:t>MainActivity.java</a:t>
            </a:r>
            <a:endParaRPr lang="en-IN" sz="1200" b="1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latin typeface="Bell MT" panose="02020503060305020303" pitchFamily="18" charset="77"/>
              </a:rPr>
              <a:t>Intent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Bell MT" panose="02020503060305020303" pitchFamily="18" charset="77"/>
              </a:rPr>
              <a:t>SharedPreferences</a:t>
            </a:r>
            <a:endParaRPr lang="en-IN" sz="12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latin typeface="Bell MT" panose="02020503060305020303" pitchFamily="18" charset="77"/>
              </a:rPr>
              <a:t>Patterns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Bell MT" panose="02020503060305020303" pitchFamily="18" charset="77"/>
              </a:rPr>
              <a:t>TextUtils</a:t>
            </a:r>
            <a:endParaRPr lang="en-IN" sz="12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Bell MT" panose="02020503060305020303" pitchFamily="18" charset="77"/>
              </a:rPr>
              <a:t>CheckBox</a:t>
            </a:r>
            <a:endParaRPr lang="en-IN" sz="12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Bell MT" panose="02020503060305020303" pitchFamily="18" charset="77"/>
              </a:rPr>
              <a:t>ActivityCompat</a:t>
            </a:r>
            <a:endParaRPr lang="en-IN" sz="12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Bell MT" panose="02020503060305020303" pitchFamily="18" charset="77"/>
              </a:rPr>
              <a:t>ContextCompat</a:t>
            </a:r>
            <a:endParaRPr lang="en-IN" sz="12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Bell MT" panose="02020503060305020303" pitchFamily="18" charset="77"/>
              </a:rPr>
              <a:t>AlphaAnimation</a:t>
            </a:r>
            <a:endParaRPr lang="en-IN" sz="12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Bell MT" panose="02020503060305020303" pitchFamily="18" charset="77"/>
              </a:rPr>
              <a:t>ScaleAnimation</a:t>
            </a:r>
            <a:endParaRPr lang="en-IN" sz="1200" dirty="0">
              <a:latin typeface="Bell MT" panose="02020503060305020303" pitchFamily="18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9EABA-D13C-0A0E-BC8F-36B0E69D9325}"/>
              </a:ext>
            </a:extLst>
          </p:cNvPr>
          <p:cNvSpPr txBox="1"/>
          <p:nvPr/>
        </p:nvSpPr>
        <p:spPr>
          <a:xfrm>
            <a:off x="4696691" y="0"/>
            <a:ext cx="32568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Bell MT" panose="02020503060305020303" pitchFamily="18" charset="77"/>
              </a:rPr>
              <a:t>2. Registration — </a:t>
            </a:r>
          </a:p>
          <a:p>
            <a:pPr>
              <a:buNone/>
            </a:pPr>
            <a:r>
              <a:rPr lang="en-IN" sz="1400" b="1" dirty="0" err="1">
                <a:latin typeface="Bell MT" panose="02020503060305020303" pitchFamily="18" charset="77"/>
              </a:rPr>
              <a:t>register.java</a:t>
            </a:r>
            <a:endParaRPr lang="en-IN" sz="1400" b="1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Bell MT" panose="02020503060305020303" pitchFamily="18" charset="77"/>
              </a:rPr>
              <a:t>Intent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Bell MT" panose="02020503060305020303" pitchFamily="18" charset="77"/>
              </a:rPr>
              <a:t>Patterns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TextUtils</a:t>
            </a:r>
            <a:endParaRPr lang="en-IN" sz="14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CheckBox</a:t>
            </a:r>
            <a:endParaRPr lang="en-IN" sz="14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ProgressBar</a:t>
            </a:r>
            <a:endParaRPr lang="en-IN" sz="14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AlphaAnimation</a:t>
            </a:r>
            <a:endParaRPr lang="en-IN" sz="14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ScaleAnimation</a:t>
            </a:r>
            <a:endParaRPr lang="en-IN" sz="14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Bell MT" panose="02020503060305020303" pitchFamily="18" charset="77"/>
              </a:rPr>
              <a:t>Toast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8AB59-8D4A-CC7D-035D-CC1CEEC8EF8A}"/>
              </a:ext>
            </a:extLst>
          </p:cNvPr>
          <p:cNvSpPr txBox="1"/>
          <p:nvPr/>
        </p:nvSpPr>
        <p:spPr>
          <a:xfrm>
            <a:off x="8316076" y="0"/>
            <a:ext cx="41979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Bell MT" panose="02020503060305020303" pitchFamily="18" charset="77"/>
              </a:rPr>
              <a:t>3. Home — </a:t>
            </a:r>
          </a:p>
          <a:p>
            <a:pPr>
              <a:buNone/>
            </a:pPr>
            <a:r>
              <a:rPr lang="en-IN" sz="1400" b="1" dirty="0" err="1">
                <a:latin typeface="Bell MT" panose="02020503060305020303" pitchFamily="18" charset="77"/>
              </a:rPr>
              <a:t>home.java</a:t>
            </a:r>
            <a:endParaRPr lang="en-IN" sz="1400" b="1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Bell MT" panose="02020503060305020303" pitchFamily="18" charset="77"/>
              </a:rPr>
              <a:t>Intent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SharedPreferences</a:t>
            </a:r>
            <a:endParaRPr lang="en-IN" sz="14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ProgressBar</a:t>
            </a:r>
            <a:endParaRPr lang="en-IN" sz="14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AlphaAnimation</a:t>
            </a:r>
            <a:endParaRPr lang="en-IN" sz="1400" dirty="0"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Bell MT" panose="02020503060305020303" pitchFamily="18" charset="77"/>
              </a:rPr>
              <a:t>ScaleAnimation</a:t>
            </a:r>
            <a:endParaRPr lang="en-IN" sz="1400" dirty="0">
              <a:latin typeface="Bell MT" panose="020205030603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871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488399-9984-8471-CD2D-B55273E7FB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EBC4089-E52A-5F3D-B6EB-A64AF6617E25}"/>
              </a:ext>
            </a:extLst>
          </p:cNvPr>
          <p:cNvGrpSpPr/>
          <p:nvPr/>
        </p:nvGrpSpPr>
        <p:grpSpPr>
          <a:xfrm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F2F6867-1294-5B81-40EB-73091D658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7F82F84-EABD-90E9-9084-6CA735DA35EB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14F81CA2-5E8B-AFDC-5C88-4AB08F93F48C}"/>
              </a:ext>
            </a:extLst>
          </p:cNvPr>
          <p:cNvSpPr/>
          <p:nvPr/>
        </p:nvSpPr>
        <p:spPr>
          <a:xfrm>
            <a:off x="3286346" y="1164324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7CB8FB-6B35-8715-5FCC-6C175997ED69}"/>
              </a:ext>
            </a:extLst>
          </p:cNvPr>
          <p:cNvSpPr/>
          <p:nvPr/>
        </p:nvSpPr>
        <p:spPr>
          <a:xfrm>
            <a:off x="4169626" y="3496159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99C673-CA35-E956-AC55-E1FC9478946E}"/>
              </a:ext>
            </a:extLst>
          </p:cNvPr>
          <p:cNvSpPr/>
          <p:nvPr/>
        </p:nvSpPr>
        <p:spPr>
          <a:xfrm>
            <a:off x="1018730" y="146761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5A4819-30D4-4638-4942-16B47CE43BDB}"/>
              </a:ext>
            </a:extLst>
          </p:cNvPr>
          <p:cNvSpPr/>
          <p:nvPr/>
        </p:nvSpPr>
        <p:spPr>
          <a:xfrm>
            <a:off x="-1260238" y="990433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7329CE-896E-B76A-F85E-61B6C1EA11B5}"/>
              </a:ext>
            </a:extLst>
          </p:cNvPr>
          <p:cNvSpPr/>
          <p:nvPr/>
        </p:nvSpPr>
        <p:spPr>
          <a:xfrm>
            <a:off x="-2295965" y="3409598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C41AB0-E285-D83C-2044-C4734DC860D1}"/>
              </a:ext>
            </a:extLst>
          </p:cNvPr>
          <p:cNvSpPr/>
          <p:nvPr/>
        </p:nvSpPr>
        <p:spPr>
          <a:xfrm>
            <a:off x="-1334218" y="5636414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423FD7-588A-84EF-04F7-65CA0B6FCFFB}"/>
              </a:ext>
            </a:extLst>
          </p:cNvPr>
          <p:cNvSpPr txBox="1"/>
          <p:nvPr/>
        </p:nvSpPr>
        <p:spPr>
          <a:xfrm>
            <a:off x="4423547" y="3023748"/>
            <a:ext cx="7895453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u="sng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Create Quests</a:t>
            </a:r>
            <a:r>
              <a:rPr lang="en-IN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: Add personal goals as individual quests.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u="sng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Add Details</a:t>
            </a:r>
            <a:r>
              <a:rPr lang="en-IN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: Give each quest a title and description.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u="sng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Visual Roadmap</a:t>
            </a:r>
            <a:r>
              <a:rPr lang="en-IN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: Display quests as numbered nodes connected in a roadmap.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u="sng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View Quest Detail</a:t>
            </a:r>
            <a:r>
              <a:rPr lang="en-IN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s: Tap a quest to see its title and description in a pop-up.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u="sng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Interactive UI</a:t>
            </a:r>
            <a:r>
              <a:rPr lang="en-IN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Baguet Script"/>
              </a:rPr>
              <a:t>: Use animations and a simple interface to make the experience engaging.</a:t>
            </a:r>
          </a:p>
          <a:p>
            <a:pPr algn="ctr"/>
            <a:endParaRPr lang="en-US" sz="3600" dirty="0">
              <a:solidFill>
                <a:srgbClr val="F2DFF0"/>
              </a:solidFill>
              <a:latin typeface="Baguet Scrip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D6257-EC8E-7AAE-4358-C58EAA1A6B8C}"/>
              </a:ext>
            </a:extLst>
          </p:cNvPr>
          <p:cNvSpPr txBox="1"/>
          <p:nvPr/>
        </p:nvSpPr>
        <p:spPr>
          <a:xfrm>
            <a:off x="3667469" y="1025163"/>
            <a:ext cx="454936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opperplate Gothic Light"/>
              </a:rPr>
              <a:t>Life Gallery</a:t>
            </a:r>
          </a:p>
          <a:p>
            <a:pPr algn="ctr"/>
            <a:endParaRPr lang="en-US" sz="1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29B0D5-F735-D656-BBC9-DE610B99ABD4}"/>
              </a:ext>
            </a:extLst>
          </p:cNvPr>
          <p:cNvSpPr txBox="1"/>
          <p:nvPr/>
        </p:nvSpPr>
        <p:spPr>
          <a:xfrm>
            <a:off x="4589230" y="2401836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pperplate Gothic Light"/>
              </a:rPr>
              <a:t>Quest Notes</a:t>
            </a:r>
          </a:p>
        </p:txBody>
      </p:sp>
    </p:spTree>
    <p:extLst>
      <p:ext uri="{BB962C8B-B14F-4D97-AF65-F5344CB8AC3E}">
        <p14:creationId xmlns:p14="http://schemas.microsoft.com/office/powerpoint/2010/main" val="3576226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00EDF-ECEE-50CA-1F98-CC53F1D1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44E41E0E-4BAF-EDF5-0D21-F5B838C0E5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3B48F08-6F3F-2F8F-CBBE-EEB3CDB00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020" y="1595875"/>
            <a:ext cx="1721669" cy="38419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F0C61-B429-B565-6951-2401DD6C096A}"/>
              </a:ext>
            </a:extLst>
          </p:cNvPr>
          <p:cNvSpPr txBox="1"/>
          <p:nvPr/>
        </p:nvSpPr>
        <p:spPr>
          <a:xfrm>
            <a:off x="3199399" y="18979"/>
            <a:ext cx="282391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Bell MT" panose="02020503060305020303" pitchFamily="18" charset="77"/>
              </a:rPr>
              <a:t>File 2 · Entry screen</a:t>
            </a:r>
          </a:p>
          <a:p>
            <a:pPr algn="ctr"/>
            <a:r>
              <a:rPr lang="en-US" sz="1400" dirty="0" err="1">
                <a:latin typeface="Bell MT" panose="02020503060305020303" pitchFamily="18" charset="77"/>
              </a:rPr>
              <a:t>quest.java</a:t>
            </a:r>
            <a:endParaRPr lang="en-US" sz="1400" dirty="0">
              <a:latin typeface="Bell MT" panose="02020503060305020303" pitchFamily="18" charset="77"/>
            </a:endParaRPr>
          </a:p>
          <a:p>
            <a:pPr algn="ctr"/>
            <a:r>
              <a:rPr lang="en-US" sz="1400" dirty="0" err="1">
                <a:latin typeface="Bell MT" panose="02020503060305020303" pitchFamily="18" charset="77"/>
              </a:rPr>
              <a:t>activity_quest.xml</a:t>
            </a:r>
            <a:endParaRPr lang="en-US" sz="1400" dirty="0">
              <a:latin typeface="Bell MT" panose="02020503060305020303" pitchFamily="18" charset="77"/>
            </a:endParaRPr>
          </a:p>
          <a:p>
            <a:pPr algn="ctr"/>
            <a:r>
              <a:rPr lang="en-US" sz="1400" dirty="0">
                <a:latin typeface="Bell MT" panose="02020503060305020303" pitchFamily="18" charset="77"/>
              </a:rPr>
              <a:t>Shows the Create Quest introduction screen. The + and Create New Quest buttons open the form.</a:t>
            </a:r>
          </a:p>
          <a:p>
            <a:pPr algn="ctr"/>
            <a:endParaRPr lang="en-US" sz="1400" dirty="0">
              <a:latin typeface="Bell MT" panose="02020503060305020303" pitchFamily="18" charset="77"/>
            </a:endParaRPr>
          </a:p>
          <a:p>
            <a:pPr algn="ctr"/>
            <a:endParaRPr lang="en-US" sz="1400" dirty="0">
              <a:latin typeface="Bell MT" panose="02020503060305020303" pitchFamily="18" charset="77"/>
            </a:endParaRPr>
          </a:p>
          <a:p>
            <a:pPr algn="ctr"/>
            <a:endParaRPr lang="en-US" sz="1400" dirty="0">
              <a:latin typeface="Bell MT" panose="02020503060305020303" pitchFamily="18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3D7206-7A95-AF93-07AE-ED55C0B4EEEF}"/>
              </a:ext>
            </a:extLst>
          </p:cNvPr>
          <p:cNvSpPr txBox="1"/>
          <p:nvPr/>
        </p:nvSpPr>
        <p:spPr>
          <a:xfrm>
            <a:off x="3056545" y="5648651"/>
            <a:ext cx="319438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Bell MT" panose="02020503060305020303" pitchFamily="18" charset="77"/>
              </a:rPr>
              <a:t>Intent ⁠ </a:t>
            </a: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getIntent</a:t>
            </a:r>
            <a:r>
              <a:rPr lang="en-US" sz="1050" dirty="0">
                <a:latin typeface="Bell MT" panose="02020503060305020303" pitchFamily="18" charset="77"/>
              </a:rPr>
              <a:t>()</a:t>
            </a: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AlphaAnimation</a:t>
            </a:r>
            <a:endParaRPr lang="en-US" sz="1050" dirty="0">
              <a:latin typeface="Bell MT" panose="02020503060305020303" pitchFamily="18" charset="77"/>
            </a:endParaRP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ScaleAnimation</a:t>
            </a:r>
            <a:endParaRPr lang="en-US" sz="1050" dirty="0">
              <a:latin typeface="Bell MT" panose="02020503060305020303" pitchFamily="18" charset="77"/>
            </a:endParaRP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finish() ⁠  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3C7339-7B37-4602-57C8-F096B51F20C1}"/>
              </a:ext>
            </a:extLst>
          </p:cNvPr>
          <p:cNvSpPr txBox="1"/>
          <p:nvPr/>
        </p:nvSpPr>
        <p:spPr>
          <a:xfrm>
            <a:off x="6439453" y="4921529"/>
            <a:ext cx="24223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Bell MT" panose="02020503060305020303" pitchFamily="18" charset="77"/>
              </a:rPr>
              <a:t>Spinner </a:t>
            </a: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ArrayAdapter</a:t>
            </a:r>
            <a:r>
              <a:rPr lang="en-US" sz="1050" dirty="0">
                <a:latin typeface="Bell MT" panose="02020503060305020303" pitchFamily="18" charset="77"/>
              </a:rPr>
              <a:t> ⁠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Toast ⁠</a:t>
            </a: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DatePickerDialog</a:t>
            </a:r>
            <a:endParaRPr lang="en-US" sz="1050" dirty="0">
              <a:latin typeface="Bell MT" panose="02020503060305020303" pitchFamily="18" charset="77"/>
            </a:endParaRP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ContentValues</a:t>
            </a:r>
            <a:r>
              <a:rPr lang="en-US" sz="1050" dirty="0">
                <a:latin typeface="Bell MT" panose="02020503060305020303" pitchFamily="18" charset="77"/>
              </a:rPr>
              <a:t>⁠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 </a:t>
            </a:r>
            <a:r>
              <a:rPr lang="en-US" sz="1050" dirty="0" err="1">
                <a:latin typeface="Bell MT" panose="02020503060305020303" pitchFamily="18" charset="77"/>
              </a:rPr>
              <a:t>AlarmManager</a:t>
            </a:r>
            <a:endParaRPr lang="en-US" sz="1050" dirty="0">
              <a:latin typeface="Bell MT" panose="02020503060305020303" pitchFamily="18" charset="77"/>
            </a:endParaRP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PendingIntent</a:t>
            </a:r>
            <a:r>
              <a:rPr lang="en-US" sz="1050" dirty="0">
                <a:latin typeface="Bell MT" panose="02020503060305020303" pitchFamily="18" charset="77"/>
              </a:rPr>
              <a:t> ⁠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Calendar ⁠ </a:t>
            </a: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SimpleDateFormat</a:t>
            </a:r>
            <a:endParaRPr lang="en-US" sz="1050" dirty="0">
              <a:latin typeface="Bell MT" panose="02020503060305020303" pitchFamily="18" charset="77"/>
            </a:endParaRP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 Locale ⁠ 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 ⁠ </a:t>
            </a:r>
          </a:p>
          <a:p>
            <a:pPr algn="ctr"/>
            <a:endParaRPr lang="en-US" sz="1050" dirty="0">
              <a:latin typeface="Bell MT" panose="02020503060305020303" pitchFamily="18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A135C6-08D8-E7D3-F022-E5AA98C59A09}"/>
              </a:ext>
            </a:extLst>
          </p:cNvPr>
          <p:cNvSpPr txBox="1"/>
          <p:nvPr/>
        </p:nvSpPr>
        <p:spPr>
          <a:xfrm>
            <a:off x="5810116" y="-4563"/>
            <a:ext cx="338087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Bell MT" panose="02020503060305020303" pitchFamily="18" charset="77"/>
              </a:rPr>
              <a:t>File 3 · Create/edit form</a:t>
            </a:r>
          </a:p>
          <a:p>
            <a:pPr algn="ctr"/>
            <a:r>
              <a:rPr lang="en-US" sz="1400" dirty="0" err="1">
                <a:latin typeface="Bell MT" panose="02020503060305020303" pitchFamily="18" charset="77"/>
              </a:rPr>
              <a:t>quest_details.java</a:t>
            </a:r>
            <a:endParaRPr lang="en-US" sz="1400" dirty="0">
              <a:latin typeface="Bell MT" panose="02020503060305020303" pitchFamily="18" charset="77"/>
            </a:endParaRPr>
          </a:p>
          <a:p>
            <a:pPr algn="ctr"/>
            <a:r>
              <a:rPr lang="en-US" sz="1400" dirty="0" err="1">
                <a:latin typeface="Bell MT" panose="02020503060305020303" pitchFamily="18" charset="77"/>
              </a:rPr>
              <a:t>activity_quest_details.xml</a:t>
            </a:r>
            <a:endParaRPr lang="en-US" sz="1400" dirty="0">
              <a:latin typeface="Bell MT" panose="02020503060305020303" pitchFamily="18" charset="77"/>
            </a:endParaRPr>
          </a:p>
          <a:p>
            <a:pPr algn="ctr"/>
            <a:r>
              <a:rPr lang="en-US" sz="1400" dirty="0">
                <a:latin typeface="Bell MT" panose="02020503060305020303" pitchFamily="18" charset="77"/>
              </a:rPr>
              <a:t>Collects quest information, calculates XP, validates inputs, saves new quests or updates existing ones, and schedules notifications.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71CB26-95CB-1DA9-9BBF-DB936A65C9DE}"/>
              </a:ext>
            </a:extLst>
          </p:cNvPr>
          <p:cNvSpPr txBox="1"/>
          <p:nvPr/>
        </p:nvSpPr>
        <p:spPr>
          <a:xfrm>
            <a:off x="8986464" y="-4563"/>
            <a:ext cx="31744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Bell MT" panose="02020503060305020303" pitchFamily="18" charset="77"/>
              </a:rPr>
              <a:t>File 4 · Quest detail/actions</a:t>
            </a:r>
          </a:p>
          <a:p>
            <a:pPr algn="ctr"/>
            <a:r>
              <a:rPr lang="en-US" sz="1400" dirty="0" err="1">
                <a:latin typeface="Bell MT" panose="02020503060305020303" pitchFamily="18" charset="77"/>
              </a:rPr>
              <a:t>quest_view.java</a:t>
            </a:r>
            <a:endParaRPr lang="en-US" sz="1400" dirty="0">
              <a:latin typeface="Bell MT" panose="02020503060305020303" pitchFamily="18" charset="77"/>
            </a:endParaRPr>
          </a:p>
          <a:p>
            <a:pPr algn="ctr"/>
            <a:r>
              <a:rPr lang="en-US" sz="1400" dirty="0" err="1">
                <a:latin typeface="Bell MT" panose="02020503060305020303" pitchFamily="18" charset="77"/>
              </a:rPr>
              <a:t>activity_quest_view.xml</a:t>
            </a:r>
            <a:endParaRPr lang="en-US" sz="1400" dirty="0">
              <a:latin typeface="Bell MT" panose="02020503060305020303" pitchFamily="18" charset="77"/>
            </a:endParaRPr>
          </a:p>
          <a:p>
            <a:pPr algn="ctr"/>
            <a:r>
              <a:rPr lang="en-US" sz="1400" dirty="0">
                <a:latin typeface="Bell MT" panose="02020503060305020303" pitchFamily="18" charset="77"/>
              </a:rPr>
              <a:t>Loads a saved quest, displays its details, and handles completion, editing and deletion. Completion also connects to rewards, streaks and achievements.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AFBEDE1-CAE8-EA86-3D95-550A98C6C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722" y="1566583"/>
            <a:ext cx="1713821" cy="33549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54BE0E1-0330-6BE3-CB63-9A18C5971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912" y="1595875"/>
            <a:ext cx="1861176" cy="41532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1DF6B75-ED6F-28A8-94EE-A936F0AFAADD}"/>
              </a:ext>
            </a:extLst>
          </p:cNvPr>
          <p:cNvSpPr txBox="1"/>
          <p:nvPr/>
        </p:nvSpPr>
        <p:spPr>
          <a:xfrm>
            <a:off x="9190991" y="5911468"/>
            <a:ext cx="29699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Bell MT" panose="02020503060305020303" pitchFamily="18" charset="77"/>
              </a:rPr>
              <a:t>Handler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StringBuilder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Cursor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 ⁠  ⁠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A100352-A29C-7094-7A8F-E6453B0BD8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69" y="1934297"/>
            <a:ext cx="1721669" cy="384194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A0666C7-40FF-4246-052B-C149DCC3AFD5}"/>
              </a:ext>
            </a:extLst>
          </p:cNvPr>
          <p:cNvSpPr txBox="1"/>
          <p:nvPr/>
        </p:nvSpPr>
        <p:spPr>
          <a:xfrm>
            <a:off x="-1505146" y="5776237"/>
            <a:ext cx="60960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 err="1">
                <a:latin typeface="Bell MT" panose="02020503060305020303" pitchFamily="18" charset="77"/>
              </a:rPr>
              <a:t>ProgressBar</a:t>
            </a:r>
            <a:endParaRPr lang="en-US" sz="1050" dirty="0">
              <a:latin typeface="Bell MT" panose="02020503060305020303" pitchFamily="18" charset="77"/>
            </a:endParaRP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GradientDrawable</a:t>
            </a:r>
            <a:endParaRPr lang="en-US" sz="1050" dirty="0">
              <a:latin typeface="Bell MT" panose="02020503060305020303" pitchFamily="18" charset="77"/>
            </a:endParaRPr>
          </a:p>
          <a:p>
            <a:pPr algn="ctr"/>
            <a:r>
              <a:rPr lang="en-US" sz="1050" dirty="0" err="1">
                <a:latin typeface="Bell MT" panose="02020503060305020303" pitchFamily="18" charset="77"/>
              </a:rPr>
              <a:t>DatabaseHelper</a:t>
            </a:r>
            <a:endParaRPr lang="en-US" sz="1050" dirty="0">
              <a:latin typeface="Bell MT" panose="02020503060305020303" pitchFamily="18" charset="77"/>
            </a:endParaRP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Cursor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⁠ Typeface ⁠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Gravity</a:t>
            </a:r>
          </a:p>
          <a:p>
            <a:pPr algn="ctr"/>
            <a:r>
              <a:rPr lang="en-US" sz="1050" dirty="0">
                <a:latin typeface="Bell MT" panose="02020503060305020303" pitchFamily="18" charset="77"/>
              </a:rPr>
              <a:t> ⁠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E56FF9-27F5-EE44-CA0B-5251B76BD95A}"/>
              </a:ext>
            </a:extLst>
          </p:cNvPr>
          <p:cNvSpPr txBox="1"/>
          <p:nvPr/>
        </p:nvSpPr>
        <p:spPr>
          <a:xfrm>
            <a:off x="269836" y="12997"/>
            <a:ext cx="28232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dirty="0">
                <a:latin typeface="Bell MT" panose="02020503060305020303" pitchFamily="18" charset="77"/>
              </a:rPr>
              <a:t>File 1 · Quest Roadmap</a:t>
            </a:r>
            <a:br>
              <a:rPr lang="en-IN" sz="1400" dirty="0">
                <a:latin typeface="Bell MT" panose="02020503060305020303" pitchFamily="18" charset="77"/>
              </a:rPr>
            </a:br>
            <a:r>
              <a:rPr lang="en-IN" sz="1400" dirty="0" err="1">
                <a:latin typeface="Bell MT" panose="02020503060305020303" pitchFamily="18" charset="77"/>
              </a:rPr>
              <a:t>QuestActivity.java</a:t>
            </a:r>
            <a:br>
              <a:rPr lang="en-IN" sz="1400" dirty="0">
                <a:latin typeface="Bell MT" panose="02020503060305020303" pitchFamily="18" charset="77"/>
              </a:rPr>
            </a:br>
            <a:r>
              <a:rPr lang="en-IN" sz="1400" dirty="0" err="1">
                <a:latin typeface="Bell MT" panose="02020503060305020303" pitchFamily="18" charset="77"/>
              </a:rPr>
              <a:t>activity_quest.xml</a:t>
            </a:r>
            <a:endParaRPr lang="en-IN" sz="1400" dirty="0">
              <a:latin typeface="Bell MT" panose="02020503060305020303" pitchFamily="18" charset="77"/>
            </a:endParaRPr>
          </a:p>
          <a:p>
            <a:pPr algn="ctr">
              <a:buNone/>
            </a:pPr>
            <a:r>
              <a:rPr lang="en-IN" sz="1400" dirty="0">
                <a:latin typeface="Bell MT" panose="02020503060305020303" pitchFamily="18" charset="77"/>
              </a:rPr>
              <a:t>Displays quests as a visual roadmap with numbered nodes. Users can create quests, add titles and descriptions, and tap a quest to view its details in a pop-up.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4D6850-E504-3A98-B343-8626F5825EC3}"/>
              </a:ext>
            </a:extLst>
          </p:cNvPr>
          <p:cNvGrpSpPr/>
          <p:nvPr/>
        </p:nvGrpSpPr>
        <p:grpSpPr>
          <a:xfrm rot="396409">
            <a:off x="-6831560" y="281301"/>
            <a:ext cx="6453673" cy="6391469"/>
            <a:chOff x="590938" y="342122"/>
            <a:chExt cx="6453673" cy="6391469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EC8EDB3-621C-0FF7-54C8-EAB2FBA4E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FED54F1-F219-BA78-1127-6D7EF31EEA35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F69E6424-503A-A69C-3D82-F99A10DAF1CB}"/>
              </a:ext>
            </a:extLst>
          </p:cNvPr>
          <p:cNvSpPr/>
          <p:nvPr/>
        </p:nvSpPr>
        <p:spPr>
          <a:xfrm rot="396409">
            <a:off x="-646840" y="2308330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5201F72-2ACE-B3F3-723C-BC3B0A6AD7FF}"/>
              </a:ext>
            </a:extLst>
          </p:cNvPr>
          <p:cNvSpPr/>
          <p:nvPr/>
        </p:nvSpPr>
        <p:spPr>
          <a:xfrm rot="396409">
            <a:off x="-885729" y="4999271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DC0732D-B560-DE07-7909-3E68524368FF}"/>
              </a:ext>
            </a:extLst>
          </p:cNvPr>
          <p:cNvSpPr/>
          <p:nvPr/>
        </p:nvSpPr>
        <p:spPr>
          <a:xfrm rot="396409">
            <a:off x="-2188138" y="61532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F589298-EAC6-BC17-7EA7-139717A10944}"/>
              </a:ext>
            </a:extLst>
          </p:cNvPr>
          <p:cNvSpPr/>
          <p:nvPr/>
        </p:nvSpPr>
        <p:spPr>
          <a:xfrm rot="396409">
            <a:off x="-5880360" y="990433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DF2FB3-D4F1-58F9-44E0-0AE43B122970}"/>
              </a:ext>
            </a:extLst>
          </p:cNvPr>
          <p:cNvSpPr/>
          <p:nvPr/>
        </p:nvSpPr>
        <p:spPr>
          <a:xfrm rot="396409">
            <a:off x="-6916087" y="3409598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5B92AE8-7C5B-DF84-17B7-BA3AC376354A}"/>
              </a:ext>
            </a:extLst>
          </p:cNvPr>
          <p:cNvSpPr/>
          <p:nvPr/>
        </p:nvSpPr>
        <p:spPr>
          <a:xfrm rot="396409">
            <a:off x="-5954340" y="5636414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54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A4ED-2826-8F69-FACD-ECB111D4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9F9F74EB-5B93-1F4C-E611-05950A9C3D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D2CFFBC-4F22-C492-9F20-0C01AC088314}"/>
              </a:ext>
            </a:extLst>
          </p:cNvPr>
          <p:cNvGrpSpPr/>
          <p:nvPr/>
        </p:nvGrpSpPr>
        <p:grpSpPr>
          <a:xfrm rot="270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D80A151-BBB6-4389-B49D-4F130D8B6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6844FF7-1F22-7351-D83B-422AD271FF88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1DA96641-D498-F897-BF0F-743B29A451CD}"/>
              </a:ext>
            </a:extLst>
          </p:cNvPr>
          <p:cNvSpPr/>
          <p:nvPr/>
        </p:nvSpPr>
        <p:spPr>
          <a:xfrm>
            <a:off x="4142035" y="323171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C0115C-9E2C-62B2-970B-0E8CD3950AA2}"/>
              </a:ext>
            </a:extLst>
          </p:cNvPr>
          <p:cNvSpPr/>
          <p:nvPr/>
        </p:nvSpPr>
        <p:spPr>
          <a:xfrm>
            <a:off x="3286357" y="5552854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7EA5DE-30A0-089C-A4A8-5C3F260631F3}"/>
              </a:ext>
            </a:extLst>
          </p:cNvPr>
          <p:cNvSpPr/>
          <p:nvPr/>
        </p:nvSpPr>
        <p:spPr>
          <a:xfrm>
            <a:off x="615595" y="6514660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62F1B0-7895-7C76-3947-D308EFD0689A}"/>
              </a:ext>
            </a:extLst>
          </p:cNvPr>
          <p:cNvSpPr/>
          <p:nvPr/>
        </p:nvSpPr>
        <p:spPr>
          <a:xfrm>
            <a:off x="-1501861" y="5464828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79B328E-5B9B-592F-9E02-F06C659DF5D4}"/>
              </a:ext>
            </a:extLst>
          </p:cNvPr>
          <p:cNvSpPr/>
          <p:nvPr/>
        </p:nvSpPr>
        <p:spPr>
          <a:xfrm>
            <a:off x="3048648" y="902515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425BD9-1E80-C679-4CF8-9124830BAE4F}"/>
              </a:ext>
            </a:extLst>
          </p:cNvPr>
          <p:cNvSpPr/>
          <p:nvPr/>
        </p:nvSpPr>
        <p:spPr>
          <a:xfrm>
            <a:off x="613532" y="178466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DECC5F-7AC9-C412-9551-2C4EB7AA8B2B}"/>
              </a:ext>
            </a:extLst>
          </p:cNvPr>
          <p:cNvSpPr/>
          <p:nvPr/>
        </p:nvSpPr>
        <p:spPr>
          <a:xfrm>
            <a:off x="-1927457" y="184812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08337E-E48B-E421-698A-6D4F626EB765}"/>
              </a:ext>
            </a:extLst>
          </p:cNvPr>
          <p:cNvSpPr/>
          <p:nvPr/>
        </p:nvSpPr>
        <p:spPr>
          <a:xfrm>
            <a:off x="-2227382" y="3831348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01415D-18E1-5594-3E73-B541CE985550}"/>
              </a:ext>
            </a:extLst>
          </p:cNvPr>
          <p:cNvSpPr txBox="1"/>
          <p:nvPr/>
        </p:nvSpPr>
        <p:spPr>
          <a:xfrm>
            <a:off x="3346974" y="5806774"/>
            <a:ext cx="593787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pperplate Gothic Light"/>
              </a:rPr>
              <a:t>Quest Notes</a:t>
            </a:r>
          </a:p>
          <a:p>
            <a:pPr algn="ctr"/>
            <a:endParaRPr lang="en-US" sz="2000" dirty="0">
              <a:solidFill>
                <a:srgbClr val="F2DFF0"/>
              </a:solidFill>
              <a:latin typeface="Baguet Scrip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07D629-B0D8-EA4A-72DF-EE26499C14A1}"/>
              </a:ext>
            </a:extLst>
          </p:cNvPr>
          <p:cNvSpPr txBox="1"/>
          <p:nvPr/>
        </p:nvSpPr>
        <p:spPr>
          <a:xfrm>
            <a:off x="4476837" y="2202449"/>
            <a:ext cx="680413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opperplate Gothic Light"/>
              </a:rPr>
              <a:t>Life Gallery</a:t>
            </a:r>
          </a:p>
          <a:p>
            <a:pPr algn="ctr"/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3D139E-351C-9F34-6CA8-B9A690C29CF3}"/>
              </a:ext>
            </a:extLst>
          </p:cNvPr>
          <p:cNvSpPr txBox="1"/>
          <p:nvPr/>
        </p:nvSpPr>
        <p:spPr>
          <a:xfrm>
            <a:off x="3286357" y="488801"/>
            <a:ext cx="46531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pperplate Gothic Light"/>
              </a:rPr>
              <a:t>Calendar</a:t>
            </a:r>
          </a:p>
          <a:p>
            <a:pPr algn="ctr"/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C2A0BC-687D-B597-31EB-BF386AD4CE86}"/>
              </a:ext>
            </a:extLst>
          </p:cNvPr>
          <p:cNvSpPr txBox="1"/>
          <p:nvPr/>
        </p:nvSpPr>
        <p:spPr>
          <a:xfrm>
            <a:off x="4527550" y="2885826"/>
            <a:ext cx="76644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guet Script"/>
              </a:rPr>
              <a:t>A personal space to store important photos, memories, notes, and life moments, helping users preserve meaningful experiences and revisit them whenever they want.</a:t>
            </a:r>
          </a:p>
        </p:txBody>
      </p:sp>
    </p:spTree>
    <p:extLst>
      <p:ext uri="{BB962C8B-B14F-4D97-AF65-F5344CB8AC3E}">
        <p14:creationId xmlns:p14="http://schemas.microsoft.com/office/powerpoint/2010/main" val="126256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05029-CEB9-0560-62BD-668F6883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FFEE24E-0167-4BBA-FED7-AA0F36E17A04}"/>
              </a:ext>
            </a:extLst>
          </p:cNvPr>
          <p:cNvGrpSpPr/>
          <p:nvPr/>
        </p:nvGrpSpPr>
        <p:grpSpPr>
          <a:xfrm rot="2700000">
            <a:off x="-8127784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537E939-3BA0-AD3E-04D6-909E13AAB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888907C-E91B-A36A-0575-198AF255FF4A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AAF1CF96-F3E7-8FBC-5AB8-8FCCA7FADBF8}"/>
              </a:ext>
            </a:extLst>
          </p:cNvPr>
          <p:cNvSpPr/>
          <p:nvPr/>
        </p:nvSpPr>
        <p:spPr>
          <a:xfrm>
            <a:off x="-2237797" y="5011812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7E0F19-31F0-88BF-6E3F-F3C2060A61A8}"/>
              </a:ext>
            </a:extLst>
          </p:cNvPr>
          <p:cNvSpPr/>
          <p:nvPr/>
        </p:nvSpPr>
        <p:spPr>
          <a:xfrm>
            <a:off x="-4992013" y="6600190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49FDDC-5D3C-87FF-033E-2B94FE75E2CD}"/>
              </a:ext>
            </a:extLst>
          </p:cNvPr>
          <p:cNvSpPr/>
          <p:nvPr/>
        </p:nvSpPr>
        <p:spPr>
          <a:xfrm>
            <a:off x="-5400195" y="6514660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AA2F02-97B1-0676-BE97-58036241FE9E}"/>
              </a:ext>
            </a:extLst>
          </p:cNvPr>
          <p:cNvSpPr/>
          <p:nvPr/>
        </p:nvSpPr>
        <p:spPr>
          <a:xfrm>
            <a:off x="-7517651" y="5464828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F05EC0-2ACD-A30D-CF1D-E5C89DFE9135}"/>
              </a:ext>
            </a:extLst>
          </p:cNvPr>
          <p:cNvSpPr/>
          <p:nvPr/>
        </p:nvSpPr>
        <p:spPr>
          <a:xfrm>
            <a:off x="-2218996" y="1771509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0E20B7-3262-E947-9E1A-6667D221EB26}"/>
              </a:ext>
            </a:extLst>
          </p:cNvPr>
          <p:cNvSpPr/>
          <p:nvPr/>
        </p:nvSpPr>
        <p:spPr>
          <a:xfrm>
            <a:off x="-4285978" y="225967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31A78A-DED1-BF3A-3B90-C8592D9D8AD5}"/>
              </a:ext>
            </a:extLst>
          </p:cNvPr>
          <p:cNvSpPr/>
          <p:nvPr/>
        </p:nvSpPr>
        <p:spPr>
          <a:xfrm>
            <a:off x="-7943247" y="184812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664C74-9C46-377B-BF7A-6A39FFA4685C}"/>
              </a:ext>
            </a:extLst>
          </p:cNvPr>
          <p:cNvSpPr/>
          <p:nvPr/>
        </p:nvSpPr>
        <p:spPr>
          <a:xfrm>
            <a:off x="-8243172" y="3831348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CC7323-F6D2-B5B8-6014-DDA0DAD1F5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F47C6E-1D2D-6378-057A-FC68D7A40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038" y="621982"/>
            <a:ext cx="2592145" cy="57844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2BDB58-B35B-397A-850C-24E81D89825E}"/>
              </a:ext>
            </a:extLst>
          </p:cNvPr>
          <p:cNvSpPr txBox="1"/>
          <p:nvPr/>
        </p:nvSpPr>
        <p:spPr>
          <a:xfrm>
            <a:off x="4607548" y="1771509"/>
            <a:ext cx="106238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ll MT" panose="02020503060305020303" pitchFamily="18" charset="77"/>
              </a:rPr>
              <a:t>ScrollView</a:t>
            </a:r>
            <a:r>
              <a:rPr lang="en-US" dirty="0">
                <a:latin typeface="Bell MT" panose="02020503060305020303" pitchFamily="18" charset="77"/>
              </a:rPr>
              <a:t> </a:t>
            </a:r>
          </a:p>
          <a:p>
            <a:r>
              <a:rPr lang="en-US" dirty="0">
                <a:latin typeface="Bell MT" panose="02020503060305020303" pitchFamily="18" charset="77"/>
              </a:rPr>
              <a:t>⁠Cursor</a:t>
            </a:r>
          </a:p>
          <a:p>
            <a:r>
              <a:rPr lang="en-US" dirty="0" err="1">
                <a:latin typeface="Bell MT" panose="02020503060305020303" pitchFamily="18" charset="77"/>
              </a:rPr>
              <a:t>OpenableColumns</a:t>
            </a:r>
            <a:r>
              <a:rPr lang="en-US" dirty="0">
                <a:latin typeface="Bell MT" panose="02020503060305020303" pitchFamily="18" charset="77"/>
              </a:rPr>
              <a:t> ⁠</a:t>
            </a:r>
          </a:p>
          <a:p>
            <a:r>
              <a:rPr lang="en-US" dirty="0" err="1">
                <a:latin typeface="Bell MT" panose="02020503060305020303" pitchFamily="18" charset="77"/>
              </a:rPr>
              <a:t>FileProvider</a:t>
            </a:r>
            <a:r>
              <a:rPr lang="en-US" dirty="0">
                <a:latin typeface="Bell MT" panose="02020503060305020303" pitchFamily="18" charset="77"/>
              </a:rPr>
              <a:t> </a:t>
            </a:r>
          </a:p>
          <a:p>
            <a:r>
              <a:rPr lang="en-US" dirty="0">
                <a:latin typeface="Bell MT" panose="02020503060305020303" pitchFamily="18" charset="77"/>
              </a:rPr>
              <a:t>⁠Bitmap ⁠ </a:t>
            </a:r>
          </a:p>
          <a:p>
            <a:r>
              <a:rPr lang="en-US" dirty="0">
                <a:latin typeface="Bell MT" panose="02020503060305020303" pitchFamily="18" charset="77"/>
              </a:rPr>
              <a:t>⁠</a:t>
            </a:r>
            <a:r>
              <a:rPr lang="en-US" dirty="0" err="1">
                <a:latin typeface="Bell MT" panose="02020503060305020303" pitchFamily="18" charset="77"/>
              </a:rPr>
              <a:t>BufferedReader</a:t>
            </a:r>
            <a:r>
              <a:rPr lang="en-US" dirty="0">
                <a:latin typeface="Bell MT" panose="02020503060305020303" pitchFamily="18" charset="77"/>
              </a:rPr>
              <a:t> </a:t>
            </a:r>
          </a:p>
          <a:p>
            <a:r>
              <a:rPr lang="en-US" dirty="0" err="1">
                <a:latin typeface="Bell MT" panose="02020503060305020303" pitchFamily="18" charset="77"/>
              </a:rPr>
              <a:t>FileOutputStream</a:t>
            </a:r>
            <a:r>
              <a:rPr lang="en-US" dirty="0">
                <a:latin typeface="Bell MT" panose="02020503060305020303" pitchFamily="18" charset="77"/>
              </a:rPr>
              <a:t> </a:t>
            </a:r>
          </a:p>
          <a:p>
            <a:r>
              <a:rPr lang="en-US" dirty="0" err="1">
                <a:latin typeface="Bell MT" panose="02020503060305020303" pitchFamily="18" charset="77"/>
              </a:rPr>
              <a:t>FileReader</a:t>
            </a:r>
            <a:r>
              <a:rPr lang="en-US" dirty="0">
                <a:latin typeface="Bell MT" panose="02020503060305020303" pitchFamily="18" charset="77"/>
              </a:rPr>
              <a:t> </a:t>
            </a:r>
          </a:p>
          <a:p>
            <a:r>
              <a:rPr lang="en-US" dirty="0" err="1">
                <a:latin typeface="Bell MT" panose="02020503060305020303" pitchFamily="18" charset="77"/>
              </a:rPr>
              <a:t>InputStream</a:t>
            </a:r>
            <a:r>
              <a:rPr lang="en-US" dirty="0">
                <a:latin typeface="Bell MT" panose="02020503060305020303" pitchFamily="18" charset="77"/>
              </a:rPr>
              <a:t> ⁠</a:t>
            </a:r>
          </a:p>
          <a:p>
            <a:r>
              <a:rPr lang="en-US" dirty="0">
                <a:latin typeface="Bell MT" panose="02020503060305020303" pitchFamily="18" charset="77"/>
              </a:rPr>
              <a:t>FILE_PICKER_REQUEST</a:t>
            </a:r>
          </a:p>
          <a:p>
            <a:endParaRPr lang="en-US" dirty="0">
              <a:latin typeface="Bell MT" panose="02020503060305020303" pitchFamily="18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CB9526-5185-CD11-9BB1-4FE898411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368" y="621982"/>
            <a:ext cx="2696806" cy="570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15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648ED-A1BC-526B-C698-EDBFB8F6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2C909E98-590A-731B-5D3E-CF15EAE60D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2C3FC86-FFE3-348D-4B14-E9C1D251098C}"/>
              </a:ext>
            </a:extLst>
          </p:cNvPr>
          <p:cNvGrpSpPr/>
          <p:nvPr/>
        </p:nvGrpSpPr>
        <p:grpSpPr>
          <a:xfrm rot="576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6C9C053-19E8-05F7-B3B5-A5719FA23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50CB5DE-8748-C5A5-93F5-BAF3AE6EEBE1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13CB36C9-E4BC-ADB7-30DC-112A25B5312D}"/>
              </a:ext>
            </a:extLst>
          </p:cNvPr>
          <p:cNvSpPr/>
          <p:nvPr/>
        </p:nvSpPr>
        <p:spPr>
          <a:xfrm>
            <a:off x="3448740" y="5361569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0DD041-30C1-7C84-46BB-E38A52850219}"/>
              </a:ext>
            </a:extLst>
          </p:cNvPr>
          <p:cNvSpPr/>
          <p:nvPr/>
        </p:nvSpPr>
        <p:spPr>
          <a:xfrm>
            <a:off x="787996" y="6564690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2DF474-01E3-47EB-C329-87BEE2D42B38}"/>
              </a:ext>
            </a:extLst>
          </p:cNvPr>
          <p:cNvSpPr/>
          <p:nvPr/>
        </p:nvSpPr>
        <p:spPr>
          <a:xfrm>
            <a:off x="-1233192" y="5796382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15B270-1923-418D-698D-9C11BC87632A}"/>
              </a:ext>
            </a:extLst>
          </p:cNvPr>
          <p:cNvSpPr/>
          <p:nvPr/>
        </p:nvSpPr>
        <p:spPr>
          <a:xfrm>
            <a:off x="-2195156" y="3984549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5FB844-D0AE-C4D9-0914-7314CBF1AF52}"/>
              </a:ext>
            </a:extLst>
          </p:cNvPr>
          <p:cNvSpPr/>
          <p:nvPr/>
        </p:nvSpPr>
        <p:spPr>
          <a:xfrm>
            <a:off x="4166664" y="3257220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D643C0-0BC5-DE95-DA24-1D172214354F}"/>
              </a:ext>
            </a:extLst>
          </p:cNvPr>
          <p:cNvSpPr/>
          <p:nvPr/>
        </p:nvSpPr>
        <p:spPr>
          <a:xfrm>
            <a:off x="3049434" y="959204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5B974C-8F7B-EE84-5A35-A8A40FF74230}"/>
              </a:ext>
            </a:extLst>
          </p:cNvPr>
          <p:cNvSpPr/>
          <p:nvPr/>
        </p:nvSpPr>
        <p:spPr>
          <a:xfrm>
            <a:off x="614625" y="142992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4731EFF-E222-C631-C836-B447663A498D}"/>
              </a:ext>
            </a:extLst>
          </p:cNvPr>
          <p:cNvSpPr/>
          <p:nvPr/>
        </p:nvSpPr>
        <p:spPr>
          <a:xfrm>
            <a:off x="-1677743" y="1432922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A4491B-13E5-40A2-2E30-38D10212AB7F}"/>
              </a:ext>
            </a:extLst>
          </p:cNvPr>
          <p:cNvSpPr txBox="1"/>
          <p:nvPr/>
        </p:nvSpPr>
        <p:spPr>
          <a:xfrm>
            <a:off x="3614315" y="5515392"/>
            <a:ext cx="4205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opperplate Gothic Light"/>
              </a:rPr>
              <a:t>Life Gallery</a:t>
            </a:r>
          </a:p>
          <a:p>
            <a:pPr algn="ctr"/>
            <a:endParaRPr lang="en-US" sz="1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B3422-0480-0377-454C-DC5E352FE402}"/>
              </a:ext>
            </a:extLst>
          </p:cNvPr>
          <p:cNvSpPr txBox="1"/>
          <p:nvPr/>
        </p:nvSpPr>
        <p:spPr>
          <a:xfrm>
            <a:off x="4509541" y="2654508"/>
            <a:ext cx="7657474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pperplate Gothic Light"/>
              </a:rPr>
              <a:t>Calendar</a:t>
            </a:r>
          </a:p>
          <a:p>
            <a:r>
              <a:rPr lang="en-US" sz="3200" dirty="0">
                <a:solidFill>
                  <a:schemeClr val="bg2">
                    <a:lumMod val="10000"/>
                    <a:lumOff val="90000"/>
                  </a:schemeClr>
                </a:solidFill>
                <a:latin typeface="Baguet Script"/>
              </a:rPr>
              <a:t>View quests, deadlines, achievements, and daily progress by date.</a:t>
            </a:r>
          </a:p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1141F7-9636-DF9B-830D-A2CF944D7DF5}"/>
              </a:ext>
            </a:extLst>
          </p:cNvPr>
          <p:cNvSpPr txBox="1"/>
          <p:nvPr/>
        </p:nvSpPr>
        <p:spPr>
          <a:xfrm>
            <a:off x="3338803" y="666816"/>
            <a:ext cx="5159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DAE5A5"/>
                </a:solidFill>
                <a:latin typeface="Copperplate Gothic Light"/>
              </a:rPr>
              <a:t>Knowledge Vault</a:t>
            </a:r>
          </a:p>
          <a:p>
            <a:pPr algn="ctr"/>
            <a:endParaRPr lang="en-US" sz="1200" dirty="0">
              <a:solidFill>
                <a:srgbClr val="DAE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132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AA38-CF91-BE78-E744-5A0A97B74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F10052C-0207-5AE0-F693-478B90610178}"/>
              </a:ext>
            </a:extLst>
          </p:cNvPr>
          <p:cNvGrpSpPr/>
          <p:nvPr/>
        </p:nvGrpSpPr>
        <p:grpSpPr>
          <a:xfrm rot="7975937">
            <a:off x="-7466046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6FFF96F-0A7C-580C-CA42-90283FAB5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EB41098-1383-154A-2D86-4F5A28714060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7C1F8066-73B4-A9D0-0C17-39B3F8714143}"/>
              </a:ext>
            </a:extLst>
          </p:cNvPr>
          <p:cNvSpPr/>
          <p:nvPr/>
        </p:nvSpPr>
        <p:spPr>
          <a:xfrm rot="21475937">
            <a:off x="-4238716" y="6560782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0972E1F-03E9-8947-BF5D-B6EC147FBFE4}"/>
              </a:ext>
            </a:extLst>
          </p:cNvPr>
          <p:cNvSpPr/>
          <p:nvPr/>
        </p:nvSpPr>
        <p:spPr>
          <a:xfrm rot="21475937">
            <a:off x="-5687755" y="6221165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152F85-6CC2-C4D4-89E5-CA04DAC4AE41}"/>
              </a:ext>
            </a:extLst>
          </p:cNvPr>
          <p:cNvSpPr/>
          <p:nvPr/>
        </p:nvSpPr>
        <p:spPr>
          <a:xfrm rot="21475937">
            <a:off x="-6490992" y="5796382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373725-EB1C-F947-47B8-E0A212DBA8E0}"/>
              </a:ext>
            </a:extLst>
          </p:cNvPr>
          <p:cNvSpPr/>
          <p:nvPr/>
        </p:nvSpPr>
        <p:spPr>
          <a:xfrm rot="21475937">
            <a:off x="-7452956" y="3984549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9E5FC0-A245-CC2A-A903-ED7B11E305B8}"/>
              </a:ext>
            </a:extLst>
          </p:cNvPr>
          <p:cNvSpPr/>
          <p:nvPr/>
        </p:nvSpPr>
        <p:spPr>
          <a:xfrm rot="21475937">
            <a:off x="-1865628" y="5418302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BBACB8E-33CB-C168-A91D-B3BFDA042CF6}"/>
              </a:ext>
            </a:extLst>
          </p:cNvPr>
          <p:cNvSpPr/>
          <p:nvPr/>
        </p:nvSpPr>
        <p:spPr>
          <a:xfrm rot="21475937">
            <a:off x="-1127825" y="307031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D2EDB70-811B-3694-14EB-6A93A65EB534}"/>
              </a:ext>
            </a:extLst>
          </p:cNvPr>
          <p:cNvSpPr/>
          <p:nvPr/>
        </p:nvSpPr>
        <p:spPr>
          <a:xfrm rot="21475937">
            <a:off x="-2207274" y="961205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AE9F38D-5FF4-70EF-12AD-CAC0111DA9EC}"/>
              </a:ext>
            </a:extLst>
          </p:cNvPr>
          <p:cNvSpPr/>
          <p:nvPr/>
        </p:nvSpPr>
        <p:spPr>
          <a:xfrm rot="21475937">
            <a:off x="-4643297" y="152512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A4ACD66-47FA-C47B-43A0-9F71F076F6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54B3674-A278-19BF-9ABE-A696ADF76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146" y="559945"/>
            <a:ext cx="2492581" cy="556224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51B8C4C-B264-73B7-01AD-24790B769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7979" y="525148"/>
            <a:ext cx="2508175" cy="559704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1D57794-6CEB-58C0-020B-D410AD62DFC0}"/>
              </a:ext>
            </a:extLst>
          </p:cNvPr>
          <p:cNvSpPr txBox="1"/>
          <p:nvPr/>
        </p:nvSpPr>
        <p:spPr>
          <a:xfrm>
            <a:off x="4905151" y="2605623"/>
            <a:ext cx="27790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Bell MT" panose="02020503060305020303" pitchFamily="18" charset="77"/>
              </a:rPr>
              <a:t> </a:t>
            </a:r>
            <a:r>
              <a:rPr lang="en-US" dirty="0" err="1">
                <a:latin typeface="Bell MT" panose="02020503060305020303" pitchFamily="18" charset="77"/>
              </a:rPr>
              <a:t>AlarmManager</a:t>
            </a:r>
            <a:endParaRPr lang="en-US" dirty="0">
              <a:latin typeface="Bell MT" panose="02020503060305020303" pitchFamily="18" charset="77"/>
            </a:endParaRPr>
          </a:p>
          <a:p>
            <a:pPr algn="ctr"/>
            <a:r>
              <a:rPr lang="en-US" dirty="0" err="1">
                <a:latin typeface="Bell MT" panose="02020503060305020303" pitchFamily="18" charset="77"/>
              </a:rPr>
              <a:t>PendingIntent</a:t>
            </a:r>
            <a:r>
              <a:rPr lang="en-US" dirty="0">
                <a:latin typeface="Bell MT" panose="02020503060305020303" pitchFamily="18" charset="77"/>
              </a:rPr>
              <a:t> ⁠ </a:t>
            </a:r>
            <a:r>
              <a:rPr lang="en-US" dirty="0" err="1">
                <a:latin typeface="Bell MT" panose="02020503060305020303" pitchFamily="18" charset="77"/>
              </a:rPr>
              <a:t>ArrayList</a:t>
            </a:r>
            <a:r>
              <a:rPr lang="en-US" dirty="0">
                <a:latin typeface="Bell MT" panose="02020503060305020303" pitchFamily="18" charset="77"/>
              </a:rPr>
              <a:t>&lt;String&gt;</a:t>
            </a:r>
          </a:p>
          <a:p>
            <a:pPr algn="ctr"/>
            <a:r>
              <a:rPr lang="en-US" dirty="0">
                <a:latin typeface="Bell MT" panose="02020503060305020303" pitchFamily="18" charset="77"/>
              </a:rPr>
              <a:t> </a:t>
            </a:r>
            <a:r>
              <a:rPr lang="en-US" dirty="0" err="1">
                <a:latin typeface="Bell MT" panose="02020503060305020303" pitchFamily="18" charset="77"/>
              </a:rPr>
              <a:t>NotificationReceiver</a:t>
            </a:r>
            <a:endParaRPr lang="en-US" dirty="0">
              <a:latin typeface="Bell MT" panose="02020503060305020303" pitchFamily="18" charset="77"/>
            </a:endParaRPr>
          </a:p>
          <a:p>
            <a:pPr algn="ctr"/>
            <a:r>
              <a:rPr lang="en-US" dirty="0" err="1">
                <a:latin typeface="Bell MT" panose="02020503060305020303" pitchFamily="18" charset="77"/>
              </a:rPr>
              <a:t>Datepicker</a:t>
            </a:r>
            <a:r>
              <a:rPr lang="en-US" dirty="0">
                <a:latin typeface="Bell MT" panose="02020503060305020303" pitchFamily="18" charset="77"/>
              </a:rPr>
              <a:t> </a:t>
            </a:r>
          </a:p>
          <a:p>
            <a:pPr algn="ctr"/>
            <a:r>
              <a:rPr lang="en-US" dirty="0" err="1">
                <a:latin typeface="Bell MT" panose="02020503060305020303" pitchFamily="18" charset="77"/>
              </a:rPr>
              <a:t>Timepicker</a:t>
            </a:r>
            <a:endParaRPr lang="en-US" dirty="0">
              <a:latin typeface="Bell MT" panose="020205030603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40472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21AC5-E151-E17F-91B5-D82C17FB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2AF40BA9-4CC0-BAA7-1704-640B0B576E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A55D5D5-00CA-8818-1DBA-C8B73DBA5047}"/>
              </a:ext>
            </a:extLst>
          </p:cNvPr>
          <p:cNvGrpSpPr/>
          <p:nvPr/>
        </p:nvGrpSpPr>
        <p:grpSpPr>
          <a:xfrm rot="810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DCF0D92-C9AC-C0B9-B622-5D5F295CE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5EB2BE-5C64-E987-E86F-9EA7D0BA5418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FADF1904-FE37-89C7-411E-90884FF55BC9}"/>
              </a:ext>
            </a:extLst>
          </p:cNvPr>
          <p:cNvSpPr/>
          <p:nvPr/>
        </p:nvSpPr>
        <p:spPr>
          <a:xfrm>
            <a:off x="1019084" y="6560782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AE5CC1-EAE9-A12F-89BF-355F8DCE8AD2}"/>
              </a:ext>
            </a:extLst>
          </p:cNvPr>
          <p:cNvSpPr/>
          <p:nvPr/>
        </p:nvSpPr>
        <p:spPr>
          <a:xfrm>
            <a:off x="-429955" y="6221165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2CF158-2B1D-BC2E-DBF3-48105DBED7D6}"/>
              </a:ext>
            </a:extLst>
          </p:cNvPr>
          <p:cNvSpPr/>
          <p:nvPr/>
        </p:nvSpPr>
        <p:spPr>
          <a:xfrm>
            <a:off x="-1233192" y="5796382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079DA3-5990-439E-F154-7346AC48A272}"/>
              </a:ext>
            </a:extLst>
          </p:cNvPr>
          <p:cNvSpPr/>
          <p:nvPr/>
        </p:nvSpPr>
        <p:spPr>
          <a:xfrm>
            <a:off x="-2195156" y="3984549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B4F332-7680-5D34-EF32-0ADA036EDB04}"/>
              </a:ext>
            </a:extLst>
          </p:cNvPr>
          <p:cNvSpPr/>
          <p:nvPr/>
        </p:nvSpPr>
        <p:spPr>
          <a:xfrm>
            <a:off x="3392172" y="5418302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525260-B662-4620-8FCF-C2CDA7BA21B8}"/>
              </a:ext>
            </a:extLst>
          </p:cNvPr>
          <p:cNvSpPr/>
          <p:nvPr/>
        </p:nvSpPr>
        <p:spPr>
          <a:xfrm>
            <a:off x="4129975" y="307031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CA5AE9-64DA-232B-3A62-2C6E59FA3887}"/>
              </a:ext>
            </a:extLst>
          </p:cNvPr>
          <p:cNvSpPr/>
          <p:nvPr/>
        </p:nvSpPr>
        <p:spPr>
          <a:xfrm>
            <a:off x="3050526" y="961205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F080E8-2D95-0FD8-AC94-A639BB84A88E}"/>
              </a:ext>
            </a:extLst>
          </p:cNvPr>
          <p:cNvSpPr/>
          <p:nvPr/>
        </p:nvSpPr>
        <p:spPr>
          <a:xfrm>
            <a:off x="614503" y="152512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CE9D0C-98E3-5ACF-D4BD-4CB0ABF732CD}"/>
              </a:ext>
            </a:extLst>
          </p:cNvPr>
          <p:cNvSpPr txBox="1"/>
          <p:nvPr/>
        </p:nvSpPr>
        <p:spPr>
          <a:xfrm>
            <a:off x="3675424" y="5472438"/>
            <a:ext cx="45719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pperplate Gothic Light"/>
              </a:rPr>
              <a:t>Life Calendar</a:t>
            </a:r>
          </a:p>
          <a:p>
            <a:pPr algn="ctr"/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3D4D88-FDFE-8C58-1D92-39D45AA9CE9E}"/>
              </a:ext>
            </a:extLst>
          </p:cNvPr>
          <p:cNvSpPr txBox="1"/>
          <p:nvPr/>
        </p:nvSpPr>
        <p:spPr>
          <a:xfrm>
            <a:off x="4447082" y="2791918"/>
            <a:ext cx="7457606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DAE5A5"/>
                </a:solidFill>
                <a:latin typeface="Copperplate Gothic Light"/>
              </a:rPr>
              <a:t>Knowledge Vault</a:t>
            </a:r>
          </a:p>
          <a:p>
            <a:r>
              <a:rPr lang="en-US" sz="2800">
                <a:solidFill>
                  <a:srgbClr val="DAE5A5"/>
                </a:solidFill>
                <a:latin typeface="Baguet Script"/>
              </a:rPr>
              <a:t>Save useful study notes, ideas, concepts, and personal information.</a:t>
            </a:r>
          </a:p>
          <a:p>
            <a:pPr algn="ctr"/>
            <a:endParaRPr lang="en-US" sz="1600">
              <a:solidFill>
                <a:srgbClr val="DAE5A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CDE97-C92F-4EEA-1F01-09B08E924800}"/>
              </a:ext>
            </a:extLst>
          </p:cNvPr>
          <p:cNvSpPr txBox="1"/>
          <p:nvPr/>
        </p:nvSpPr>
        <p:spPr>
          <a:xfrm>
            <a:off x="3392172" y="653428"/>
            <a:ext cx="4940509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pperplate Gothic Light"/>
              </a:rPr>
              <a:t>Goal Tracker</a:t>
            </a:r>
          </a:p>
          <a:p>
            <a:pPr algn="ctr"/>
            <a:endParaRPr lang="en-US" sz="1400" dirty="0">
              <a:solidFill>
                <a:srgbClr val="F2DF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35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938A1-0176-7FBC-5116-A246A913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9611A784-9C7F-FA46-FE31-086B860342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0D88ED-11CC-6A49-3853-35EC1D578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346" y="711691"/>
            <a:ext cx="2510496" cy="560222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5D048CE-4872-2774-845A-3769A834D6C4}"/>
              </a:ext>
            </a:extLst>
          </p:cNvPr>
          <p:cNvGrpSpPr/>
          <p:nvPr/>
        </p:nvGrpSpPr>
        <p:grpSpPr>
          <a:xfrm rot="13620000">
            <a:off x="-10945846" y="233265"/>
            <a:ext cx="6453673" cy="6391469"/>
            <a:chOff x="590938" y="342122"/>
            <a:chExt cx="6453673" cy="639146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D727080-1675-38EE-8263-49CBE576E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4B3F22F-8B28-3995-A95A-1F16A5719814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B35787AC-BD10-D5EB-1D1C-233606F1D812}"/>
              </a:ext>
            </a:extLst>
          </p:cNvPr>
          <p:cNvSpPr/>
          <p:nvPr/>
        </p:nvSpPr>
        <p:spPr>
          <a:xfrm>
            <a:off x="-9910828" y="5798782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34AF99-B7DE-8704-B828-A3C9D03D4A78}"/>
              </a:ext>
            </a:extLst>
          </p:cNvPr>
          <p:cNvSpPr/>
          <p:nvPr/>
        </p:nvSpPr>
        <p:spPr>
          <a:xfrm>
            <a:off x="-10660325" y="4715903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6A6B91-457E-3451-6726-6383540C31D2}"/>
              </a:ext>
            </a:extLst>
          </p:cNvPr>
          <p:cNvSpPr/>
          <p:nvPr/>
        </p:nvSpPr>
        <p:spPr>
          <a:xfrm>
            <a:off x="-10963890" y="3341743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C46BE7C-1D91-7252-DE05-BE870A8A4EA2}"/>
              </a:ext>
            </a:extLst>
          </p:cNvPr>
          <p:cNvSpPr/>
          <p:nvPr/>
        </p:nvSpPr>
        <p:spPr>
          <a:xfrm>
            <a:off x="-8065887" y="14956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461348A-2E14-8FC9-9677-4FCA1B49DE17}"/>
              </a:ext>
            </a:extLst>
          </p:cNvPr>
          <p:cNvSpPr/>
          <p:nvPr/>
        </p:nvSpPr>
        <p:spPr>
          <a:xfrm>
            <a:off x="-7806314" y="6573794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14AADA-4317-45C3-35B0-2F0F39E2420A}"/>
              </a:ext>
            </a:extLst>
          </p:cNvPr>
          <p:cNvSpPr/>
          <p:nvPr/>
        </p:nvSpPr>
        <p:spPr>
          <a:xfrm>
            <a:off x="-5338396" y="5393795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89B3BB-C054-8145-B754-464E14C49D53}"/>
              </a:ext>
            </a:extLst>
          </p:cNvPr>
          <p:cNvSpPr/>
          <p:nvPr/>
        </p:nvSpPr>
        <p:spPr>
          <a:xfrm>
            <a:off x="-4587795" y="3053582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0EAA34-A958-BFDA-9A3D-89324BB9521B}"/>
              </a:ext>
            </a:extLst>
          </p:cNvPr>
          <p:cNvSpPr/>
          <p:nvPr/>
        </p:nvSpPr>
        <p:spPr>
          <a:xfrm>
            <a:off x="-5699687" y="914512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E54438-FD6A-7D59-D9E8-11EEFF74DD1C}"/>
              </a:ext>
            </a:extLst>
          </p:cNvPr>
          <p:cNvSpPr txBox="1"/>
          <p:nvPr/>
        </p:nvSpPr>
        <p:spPr>
          <a:xfrm>
            <a:off x="6221505" y="2497141"/>
            <a:ext cx="33169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ScrollView</a:t>
            </a:r>
            <a:endParaRPr lang="en-US" dirty="0"/>
          </a:p>
          <a:p>
            <a:r>
              <a:rPr lang="en-US" dirty="0"/>
              <a:t>Spinner ⁠ </a:t>
            </a:r>
          </a:p>
          <a:p>
            <a:r>
              <a:rPr lang="en-US" dirty="0" err="1"/>
              <a:t>CheckBox</a:t>
            </a:r>
            <a:r>
              <a:rPr lang="en-US" dirty="0"/>
              <a:t> ⁠ </a:t>
            </a:r>
          </a:p>
          <a:p>
            <a:r>
              <a:rPr lang="en-US" dirty="0"/>
              <a:t>⁠Editable </a:t>
            </a:r>
          </a:p>
          <a:p>
            <a:r>
              <a:rPr lang="en-US" dirty="0" err="1"/>
              <a:t>TextWatcher</a:t>
            </a:r>
            <a:r>
              <a:rPr lang="en-US" dirty="0"/>
              <a:t> ⁠(Search Bar)</a:t>
            </a:r>
          </a:p>
          <a:p>
            <a:r>
              <a:rPr lang="en-US" dirty="0" err="1"/>
              <a:t>NoteData</a:t>
            </a:r>
            <a:r>
              <a:rPr lang="en-US" dirty="0"/>
              <a:t> </a:t>
            </a:r>
          </a:p>
          <a:p>
            <a:r>
              <a:rPr lang="en-US" dirty="0" err="1"/>
              <a:t>SharedPreferences</a:t>
            </a:r>
            <a:r>
              <a:rPr lang="en-US" dirty="0"/>
              <a:t> ⁠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FF5F3F9-E66C-4571-5DDD-D9AB8C194EDB}"/>
              </a:ext>
            </a:extLst>
          </p:cNvPr>
          <p:cNvGrpSpPr/>
          <p:nvPr/>
        </p:nvGrpSpPr>
        <p:grpSpPr>
          <a:xfrm rot="13620000">
            <a:off x="-8411818" y="233265"/>
            <a:ext cx="6453673" cy="6391469"/>
            <a:chOff x="590938" y="342122"/>
            <a:chExt cx="6453673" cy="6391469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C7844E3-26B7-1199-90BB-4E2D2AC17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A02EEBB-9F17-806D-ACE4-D1C96467ED32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9DF5C9D5-D405-730B-4DA8-E53A96B5A2D8}"/>
              </a:ext>
            </a:extLst>
          </p:cNvPr>
          <p:cNvSpPr/>
          <p:nvPr/>
        </p:nvSpPr>
        <p:spPr>
          <a:xfrm>
            <a:off x="-7376800" y="5798782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A6A13CD-5A7E-1603-4E4B-D113EB3071C8}"/>
              </a:ext>
            </a:extLst>
          </p:cNvPr>
          <p:cNvSpPr/>
          <p:nvPr/>
        </p:nvSpPr>
        <p:spPr>
          <a:xfrm>
            <a:off x="-8126297" y="4715903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F804618-C77F-30D2-95D6-BBB94FBBD446}"/>
              </a:ext>
            </a:extLst>
          </p:cNvPr>
          <p:cNvSpPr/>
          <p:nvPr/>
        </p:nvSpPr>
        <p:spPr>
          <a:xfrm>
            <a:off x="-8429862" y="3341743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BEB310A-21CD-97B2-2E5B-712E912F55C8}"/>
              </a:ext>
            </a:extLst>
          </p:cNvPr>
          <p:cNvSpPr/>
          <p:nvPr/>
        </p:nvSpPr>
        <p:spPr>
          <a:xfrm>
            <a:off x="-5531859" y="14956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E8A9C60-9419-D7D9-C205-3CF146C1531B}"/>
              </a:ext>
            </a:extLst>
          </p:cNvPr>
          <p:cNvSpPr/>
          <p:nvPr/>
        </p:nvSpPr>
        <p:spPr>
          <a:xfrm>
            <a:off x="-5272286" y="6573794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29B0616-16CA-FA8D-109B-482F3DB3D2CD}"/>
              </a:ext>
            </a:extLst>
          </p:cNvPr>
          <p:cNvSpPr/>
          <p:nvPr/>
        </p:nvSpPr>
        <p:spPr>
          <a:xfrm>
            <a:off x="-2804368" y="5393795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39848DD-CC58-3512-9195-58C8EB0117F1}"/>
              </a:ext>
            </a:extLst>
          </p:cNvPr>
          <p:cNvSpPr/>
          <p:nvPr/>
        </p:nvSpPr>
        <p:spPr>
          <a:xfrm>
            <a:off x="-2053767" y="3053582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1637BAC-5D2C-5969-1E71-F4F7BD2226D0}"/>
              </a:ext>
            </a:extLst>
          </p:cNvPr>
          <p:cNvSpPr/>
          <p:nvPr/>
        </p:nvSpPr>
        <p:spPr>
          <a:xfrm>
            <a:off x="-3165659" y="914512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98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EB3E-3476-41E0-F2C6-363EA8E7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37EC59F1-6542-AF4C-D86B-52E4FDFD8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EAA72C5-0F6A-B667-5017-0F87868F8D4A}"/>
              </a:ext>
            </a:extLst>
          </p:cNvPr>
          <p:cNvGrpSpPr/>
          <p:nvPr/>
        </p:nvGrpSpPr>
        <p:grpSpPr>
          <a:xfrm rot="1362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F5D3238-B0AE-7B9D-DA56-22AAA575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FDC7669-B1F5-34B5-76CD-6A70E03F8BC8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E797E9ED-3510-8C14-FB72-6B8E89790727}"/>
              </a:ext>
            </a:extLst>
          </p:cNvPr>
          <p:cNvSpPr/>
          <p:nvPr/>
        </p:nvSpPr>
        <p:spPr>
          <a:xfrm>
            <a:off x="-1173228" y="5798782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4C9CFD-88B9-A4DB-8178-DE2A6C719A41}"/>
              </a:ext>
            </a:extLst>
          </p:cNvPr>
          <p:cNvSpPr/>
          <p:nvPr/>
        </p:nvSpPr>
        <p:spPr>
          <a:xfrm>
            <a:off x="-1922725" y="4715903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DE174B-ED68-E912-7DA0-A9E03E763EA6}"/>
              </a:ext>
            </a:extLst>
          </p:cNvPr>
          <p:cNvSpPr/>
          <p:nvPr/>
        </p:nvSpPr>
        <p:spPr>
          <a:xfrm>
            <a:off x="-2226290" y="3341743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74C5EC-1E2C-1A15-1405-469129D435FC}"/>
              </a:ext>
            </a:extLst>
          </p:cNvPr>
          <p:cNvSpPr/>
          <p:nvPr/>
        </p:nvSpPr>
        <p:spPr>
          <a:xfrm>
            <a:off x="671713" y="14956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9B24B0-B986-7E9D-3225-C6FFF5AAABB7}"/>
              </a:ext>
            </a:extLst>
          </p:cNvPr>
          <p:cNvSpPr/>
          <p:nvPr/>
        </p:nvSpPr>
        <p:spPr>
          <a:xfrm>
            <a:off x="931286" y="6573794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4AC29F-8F9A-D75D-ED83-BBD9628E97F6}"/>
              </a:ext>
            </a:extLst>
          </p:cNvPr>
          <p:cNvSpPr/>
          <p:nvPr/>
        </p:nvSpPr>
        <p:spPr>
          <a:xfrm>
            <a:off x="3399204" y="5393795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8D1625-BD9D-DB3B-88A6-D4D29E9DAA10}"/>
              </a:ext>
            </a:extLst>
          </p:cNvPr>
          <p:cNvSpPr/>
          <p:nvPr/>
        </p:nvSpPr>
        <p:spPr>
          <a:xfrm>
            <a:off x="4149805" y="3053582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1F5859-96F4-9221-D4D5-62FCFAE17A42}"/>
              </a:ext>
            </a:extLst>
          </p:cNvPr>
          <p:cNvSpPr/>
          <p:nvPr/>
        </p:nvSpPr>
        <p:spPr>
          <a:xfrm>
            <a:off x="3037913" y="914512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59ABF-9BC1-BDC5-C59C-8777AD0605EF}"/>
              </a:ext>
            </a:extLst>
          </p:cNvPr>
          <p:cNvSpPr txBox="1"/>
          <p:nvPr/>
        </p:nvSpPr>
        <p:spPr>
          <a:xfrm>
            <a:off x="3719528" y="5677455"/>
            <a:ext cx="489950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DAE5A5"/>
                </a:solidFill>
                <a:latin typeface="Copperplate Gothic Light"/>
              </a:rPr>
              <a:t>Knowledge Vault</a:t>
            </a:r>
          </a:p>
          <a:p>
            <a:pPr algn="ctr"/>
            <a:endParaRPr lang="en-US" sz="1200" dirty="0">
              <a:solidFill>
                <a:srgbClr val="DAE5A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C3BDF-F508-E4AF-D4D0-D27F94D3A936}"/>
              </a:ext>
            </a:extLst>
          </p:cNvPr>
          <p:cNvSpPr txBox="1"/>
          <p:nvPr/>
        </p:nvSpPr>
        <p:spPr>
          <a:xfrm>
            <a:off x="4540770" y="2723213"/>
            <a:ext cx="7538804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accent5">
                    <a:lumMod val="20000"/>
                    <a:lumOff val="80000"/>
                  </a:schemeClr>
                </a:solidFill>
                <a:latin typeface="Copperplate Gothic Light"/>
              </a:rPr>
              <a:t>Goal Tracker</a:t>
            </a:r>
          </a:p>
          <a:p>
            <a:r>
              <a:rPr lang="en-US" sz="3200">
                <a:solidFill>
                  <a:srgbClr val="F2DFF0"/>
                </a:solidFill>
                <a:latin typeface="Baguet Script"/>
              </a:rPr>
              <a:t>Break larger goals into smaller milestones and track overall progress.</a:t>
            </a:r>
          </a:p>
          <a:p>
            <a:pPr algn="ctr"/>
            <a:endParaRPr lang="en-US" sz="2000">
              <a:solidFill>
                <a:srgbClr val="F2DF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D9D6E-DEDA-60B7-068A-E8462F6885E7}"/>
              </a:ext>
            </a:extLst>
          </p:cNvPr>
          <p:cNvSpPr txBox="1"/>
          <p:nvPr/>
        </p:nvSpPr>
        <p:spPr>
          <a:xfrm>
            <a:off x="3371456" y="575958"/>
            <a:ext cx="459073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Light"/>
              </a:rPr>
              <a:t>Smart Reminders</a:t>
            </a:r>
          </a:p>
          <a:p>
            <a:pPr algn="ctr"/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402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B866-337B-3B4E-A50C-5AAF26604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39D9239-59AC-CD2B-8B59-9AC006DBEB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968229-42CA-EACB-3E66-9E1D60211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685" y="254140"/>
            <a:ext cx="2845468" cy="63497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99DD2B3-550C-6D14-E00E-DDC83B31EA8A}"/>
              </a:ext>
            </a:extLst>
          </p:cNvPr>
          <p:cNvSpPr txBox="1"/>
          <p:nvPr/>
        </p:nvSpPr>
        <p:spPr>
          <a:xfrm>
            <a:off x="5844990" y="2298556"/>
            <a:ext cx="31197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 err="1">
                <a:latin typeface="Bell MT" panose="02020503060305020303" pitchFamily="18" charset="77"/>
              </a:rPr>
              <a:t>ProgressBar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>
                <a:latin typeface="Bell MT" panose="02020503060305020303" pitchFamily="18" charset="77"/>
              </a:rPr>
              <a:t>Intent</a:t>
            </a:r>
          </a:p>
          <a:p>
            <a:pPr lvl="0"/>
            <a:r>
              <a:rPr lang="en-IN" sz="2000" dirty="0">
                <a:latin typeface="Bell MT" panose="02020503060305020303" pitchFamily="18" charset="77"/>
              </a:rPr>
              <a:t>Cursor</a:t>
            </a:r>
          </a:p>
          <a:p>
            <a:pPr lvl="0"/>
            <a:r>
              <a:rPr lang="en-IN" sz="2000" dirty="0" err="1">
                <a:latin typeface="Bell MT" panose="02020503060305020303" pitchFamily="18" charset="77"/>
              </a:rPr>
              <a:t>ContentValues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 err="1">
                <a:latin typeface="Bell MT" panose="02020503060305020303" pitchFamily="18" charset="77"/>
              </a:rPr>
              <a:t>AlertDialog</a:t>
            </a:r>
            <a:endParaRPr lang="en-IN" sz="2000" dirty="0">
              <a:latin typeface="Bell MT" panose="02020503060305020303" pitchFamily="18" charset="77"/>
            </a:endParaRPr>
          </a:p>
          <a:p>
            <a:endParaRPr lang="en-US" sz="2000" dirty="0">
              <a:latin typeface="Bell MT" panose="020205030603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5516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04F09-51BC-F6A8-CF9A-0C71B197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96618A01-F9A9-6C0F-F89B-8848C2D125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3335587-7D61-0DF0-528B-D65BCE07AB6D}"/>
              </a:ext>
            </a:extLst>
          </p:cNvPr>
          <p:cNvGrpSpPr/>
          <p:nvPr/>
        </p:nvGrpSpPr>
        <p:grpSpPr>
          <a:xfrm rot="1428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6AA6EB3-368A-9B5B-206C-2D0CAC0E7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BE1B756-5A27-8687-2610-A0509DE11100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E9B4231A-EDDB-95A6-7104-76B8B14572BE}"/>
              </a:ext>
            </a:extLst>
          </p:cNvPr>
          <p:cNvSpPr/>
          <p:nvPr/>
        </p:nvSpPr>
        <p:spPr>
          <a:xfrm>
            <a:off x="-2197556" y="3806339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311049-051B-2E98-BB00-E3827D3A2E7A}"/>
              </a:ext>
            </a:extLst>
          </p:cNvPr>
          <p:cNvSpPr/>
          <p:nvPr/>
        </p:nvSpPr>
        <p:spPr>
          <a:xfrm>
            <a:off x="-2022659" y="2055149"/>
            <a:ext cx="171061" cy="17106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07F3B67-8C8D-6D8B-EECB-386149A024A3}"/>
              </a:ext>
            </a:extLst>
          </p:cNvPr>
          <p:cNvSpPr/>
          <p:nvPr/>
        </p:nvSpPr>
        <p:spPr>
          <a:xfrm>
            <a:off x="634333" y="150087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AD4C62-EBDB-CD17-4D7B-BF5D73CB9B10}"/>
              </a:ext>
            </a:extLst>
          </p:cNvPr>
          <p:cNvSpPr/>
          <p:nvPr/>
        </p:nvSpPr>
        <p:spPr>
          <a:xfrm>
            <a:off x="2876516" y="799139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42E501-F378-0EA9-A05C-462885C483EE}"/>
              </a:ext>
            </a:extLst>
          </p:cNvPr>
          <p:cNvSpPr/>
          <p:nvPr/>
        </p:nvSpPr>
        <p:spPr>
          <a:xfrm>
            <a:off x="-1729468" y="5068532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54285E-B6C7-E94B-BBE9-8F1D8467CB49}"/>
              </a:ext>
            </a:extLst>
          </p:cNvPr>
          <p:cNvSpPr/>
          <p:nvPr/>
        </p:nvSpPr>
        <p:spPr>
          <a:xfrm>
            <a:off x="713467" y="6568025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405ED6-AA6F-C1BB-4D79-513FFEDADDCD}"/>
              </a:ext>
            </a:extLst>
          </p:cNvPr>
          <p:cNvSpPr/>
          <p:nvPr/>
        </p:nvSpPr>
        <p:spPr>
          <a:xfrm>
            <a:off x="3300363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A9F293-B50A-A4BB-D781-6E0C42C232EA}"/>
              </a:ext>
            </a:extLst>
          </p:cNvPr>
          <p:cNvSpPr/>
          <p:nvPr/>
        </p:nvSpPr>
        <p:spPr>
          <a:xfrm>
            <a:off x="4137192" y="3150545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69334-6A38-0DB9-AA97-B962B50E5161}"/>
              </a:ext>
            </a:extLst>
          </p:cNvPr>
          <p:cNvSpPr txBox="1"/>
          <p:nvPr/>
        </p:nvSpPr>
        <p:spPr>
          <a:xfrm>
            <a:off x="3691327" y="5421442"/>
            <a:ext cx="4559509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pperplate Gothic Light"/>
              </a:rPr>
              <a:t>Goal Tracker</a:t>
            </a:r>
          </a:p>
          <a:p>
            <a:pPr algn="ctr"/>
            <a:endParaRPr lang="en-US" sz="1400" dirty="0">
              <a:solidFill>
                <a:srgbClr val="F2DF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57318F-6D2F-34DC-2009-94E10202A4C7}"/>
              </a:ext>
            </a:extLst>
          </p:cNvPr>
          <p:cNvSpPr txBox="1"/>
          <p:nvPr/>
        </p:nvSpPr>
        <p:spPr>
          <a:xfrm>
            <a:off x="4490804" y="2685737"/>
            <a:ext cx="7214015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Light"/>
              </a:rPr>
              <a:t>Smart Reminders</a:t>
            </a:r>
          </a:p>
          <a:p>
            <a:r>
              <a:rPr lang="en-US" sz="3200">
                <a:solidFill>
                  <a:schemeClr val="accent6">
                    <a:lumMod val="20000"/>
                    <a:lumOff val="80000"/>
                  </a:schemeClr>
                </a:solidFill>
                <a:latin typeface="Baguet Script"/>
              </a:rPr>
              <a:t>Receive reminders for upcoming quests, deadlines, and streaks.</a:t>
            </a:r>
          </a:p>
          <a:p>
            <a:pPr algn="ctr"/>
            <a:endParaRPr lang="en-US" sz="280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6B822E-AD6D-736D-FAAD-299CAB428366}"/>
              </a:ext>
            </a:extLst>
          </p:cNvPr>
          <p:cNvSpPr txBox="1"/>
          <p:nvPr/>
        </p:nvSpPr>
        <p:spPr>
          <a:xfrm>
            <a:off x="3691328" y="51841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pperplate Gothic Light"/>
              </a:rPr>
              <a:t>Progress History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322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1623-40FB-6BCE-A1FE-72D748C2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5882C8-040D-49FA-7C9B-D3484EA4363E}"/>
              </a:ext>
            </a:extLst>
          </p:cNvPr>
          <p:cNvGrpSpPr/>
          <p:nvPr/>
        </p:nvGrpSpPr>
        <p:grpSpPr>
          <a:xfrm rot="-3900000">
            <a:off x="-9660606" y="233265"/>
            <a:ext cx="6453673" cy="6391469"/>
            <a:chOff x="590938" y="342122"/>
            <a:chExt cx="6453673" cy="639146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B27F130-DBEA-C0BC-BBF0-A3810AD2B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198C4FB-225C-A2F3-AB30-20A8D3725CDA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90DA5BE9-2710-BF70-DF20-330AD7105C33}"/>
              </a:ext>
            </a:extLst>
          </p:cNvPr>
          <p:cNvSpPr/>
          <p:nvPr/>
        </p:nvSpPr>
        <p:spPr>
          <a:xfrm>
            <a:off x="-9649916" y="3806339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138E432-7615-891B-F3EF-D98B197AC497}"/>
              </a:ext>
            </a:extLst>
          </p:cNvPr>
          <p:cNvSpPr/>
          <p:nvPr/>
        </p:nvSpPr>
        <p:spPr>
          <a:xfrm>
            <a:off x="-4488306" y="837137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1517287-6B77-A98C-D356-941AD038C74E}"/>
              </a:ext>
            </a:extLst>
          </p:cNvPr>
          <p:cNvSpPr/>
          <p:nvPr/>
        </p:nvSpPr>
        <p:spPr>
          <a:xfrm>
            <a:off x="-3339155" y="3053909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309127-91F7-1634-A360-300C478932C0}"/>
              </a:ext>
            </a:extLst>
          </p:cNvPr>
          <p:cNvSpPr/>
          <p:nvPr/>
        </p:nvSpPr>
        <p:spPr>
          <a:xfrm>
            <a:off x="-9181828" y="5068532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3866A9D-D7DC-F067-5051-6A7254BCC217}"/>
              </a:ext>
            </a:extLst>
          </p:cNvPr>
          <p:cNvSpPr/>
          <p:nvPr/>
        </p:nvSpPr>
        <p:spPr>
          <a:xfrm>
            <a:off x="-9012401" y="5487484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230CC09-1461-7933-14B8-02F840804891}"/>
              </a:ext>
            </a:extLst>
          </p:cNvPr>
          <p:cNvSpPr/>
          <p:nvPr/>
        </p:nvSpPr>
        <p:spPr>
          <a:xfrm>
            <a:off x="-6650358" y="6570024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3F4AD3-6019-542A-396F-8E2C52ED95AF}"/>
              </a:ext>
            </a:extLst>
          </p:cNvPr>
          <p:cNvSpPr/>
          <p:nvPr/>
        </p:nvSpPr>
        <p:spPr>
          <a:xfrm>
            <a:off x="-4108398" y="5486512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DD1F2AD-E108-595F-211C-89957E7C09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5237BA4-76E3-4CF0-4583-1BDD59C9C8AD}"/>
              </a:ext>
            </a:extLst>
          </p:cNvPr>
          <p:cNvSpPr txBox="1"/>
          <p:nvPr/>
        </p:nvSpPr>
        <p:spPr>
          <a:xfrm>
            <a:off x="4230414" y="1125140"/>
            <a:ext cx="796158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 err="1">
                <a:latin typeface="Bell MT" panose="02020503060305020303" pitchFamily="18" charset="77"/>
              </a:rPr>
              <a:t>NotificationChannel</a:t>
            </a:r>
            <a:r>
              <a:rPr lang="en-IN" dirty="0">
                <a:latin typeface="Bell MT" panose="02020503060305020303" pitchFamily="18" charset="77"/>
              </a:rPr>
              <a:t> – Creates a channel for delivering notifications.</a:t>
            </a:r>
          </a:p>
          <a:p>
            <a:pPr lvl="0"/>
            <a:r>
              <a:rPr lang="en-IN" b="1" dirty="0" err="1">
                <a:latin typeface="Bell MT" panose="02020503060305020303" pitchFamily="18" charset="77"/>
              </a:rPr>
              <a:t>NotificationManager</a:t>
            </a:r>
            <a:r>
              <a:rPr lang="en-IN" dirty="0">
                <a:latin typeface="Bell MT" panose="02020503060305020303" pitchFamily="18" charset="77"/>
              </a:rPr>
              <a:t> – Manages notification channels and notifications.</a:t>
            </a:r>
          </a:p>
          <a:p>
            <a:pPr lvl="0"/>
            <a:r>
              <a:rPr lang="en-IN" b="1" dirty="0">
                <a:latin typeface="Bell MT" panose="02020503060305020303" pitchFamily="18" charset="77"/>
              </a:rPr>
              <a:t>Context</a:t>
            </a:r>
            <a:r>
              <a:rPr lang="en-IN" dirty="0">
                <a:latin typeface="Bell MT" panose="02020503060305020303" pitchFamily="18" charset="77"/>
              </a:rPr>
              <a:t> – Provides access to Android system services and application information.</a:t>
            </a:r>
          </a:p>
          <a:p>
            <a:pPr lvl="0"/>
            <a:r>
              <a:rPr lang="en-IN" b="1" dirty="0">
                <a:latin typeface="Bell MT" panose="02020503060305020303" pitchFamily="18" charset="77"/>
              </a:rPr>
              <a:t>Build</a:t>
            </a:r>
            <a:r>
              <a:rPr lang="en-IN" dirty="0">
                <a:latin typeface="Bell MT" panose="02020503060305020303" pitchFamily="18" charset="77"/>
              </a:rPr>
              <a:t> – Provides information about the Android device’s software version.</a:t>
            </a:r>
          </a:p>
          <a:p>
            <a:pPr lvl="0"/>
            <a:r>
              <a:rPr lang="en-IN" b="1" dirty="0" err="1">
                <a:latin typeface="Bell MT" panose="02020503060305020303" pitchFamily="18" charset="77"/>
              </a:rPr>
              <a:t>NotificationManager.IMPORTANCE_HIGH</a:t>
            </a:r>
            <a:r>
              <a:rPr lang="en-IN" dirty="0">
                <a:latin typeface="Bell MT" panose="02020503060305020303" pitchFamily="18" charset="77"/>
              </a:rPr>
              <a:t> – Sets the notification channel’s importance to high.</a:t>
            </a:r>
          </a:p>
          <a:p>
            <a:pPr lvl="0"/>
            <a:r>
              <a:rPr lang="en-IN" b="1" dirty="0" err="1">
                <a:latin typeface="Bell MT" panose="02020503060305020303" pitchFamily="18" charset="77"/>
              </a:rPr>
              <a:t>Build.VERSION.SDK_INT</a:t>
            </a:r>
            <a:r>
              <a:rPr lang="en-IN" dirty="0">
                <a:latin typeface="Bell MT" panose="02020503060305020303" pitchFamily="18" charset="77"/>
              </a:rPr>
              <a:t> – Returns the device’s Android API level.</a:t>
            </a:r>
          </a:p>
          <a:p>
            <a:pPr lvl="0"/>
            <a:r>
              <a:rPr lang="en-IN" b="1" dirty="0" err="1">
                <a:latin typeface="Bell MT" panose="02020503060305020303" pitchFamily="18" charset="77"/>
              </a:rPr>
              <a:t>Build.VERSION_CODES.O</a:t>
            </a:r>
            <a:r>
              <a:rPr lang="en-IN" dirty="0">
                <a:latin typeface="Bell MT" panose="02020503060305020303" pitchFamily="18" charset="77"/>
              </a:rPr>
              <a:t> – Represents Android 8.0 (Oreo), which introduced notification channels.</a:t>
            </a:r>
          </a:p>
          <a:p>
            <a:pPr lvl="0"/>
            <a:r>
              <a:rPr lang="en-IN" b="1" dirty="0" err="1">
                <a:latin typeface="Bell MT" panose="02020503060305020303" pitchFamily="18" charset="77"/>
              </a:rPr>
              <a:t>getSystemService</a:t>
            </a:r>
            <a:r>
              <a:rPr lang="en-IN" b="1" dirty="0">
                <a:latin typeface="Bell MT" panose="02020503060305020303" pitchFamily="18" charset="77"/>
              </a:rPr>
              <a:t>()</a:t>
            </a:r>
            <a:r>
              <a:rPr lang="en-IN" dirty="0">
                <a:latin typeface="Bell MT" panose="02020503060305020303" pitchFamily="18" charset="77"/>
              </a:rPr>
              <a:t> – Retrieves the Android system’s </a:t>
            </a:r>
            <a:r>
              <a:rPr lang="en-IN" dirty="0" err="1">
                <a:latin typeface="Bell MT" panose="02020503060305020303" pitchFamily="18" charset="77"/>
              </a:rPr>
              <a:t>NotificationManager</a:t>
            </a:r>
            <a:r>
              <a:rPr lang="en-IN" dirty="0">
                <a:latin typeface="Bell MT" panose="02020503060305020303" pitchFamily="18" charset="77"/>
              </a:rPr>
              <a:t>.</a:t>
            </a:r>
          </a:p>
          <a:p>
            <a:pPr lvl="0"/>
            <a:r>
              <a:rPr lang="en-IN" b="1" dirty="0" err="1">
                <a:latin typeface="Bell MT" panose="02020503060305020303" pitchFamily="18" charset="77"/>
              </a:rPr>
              <a:t>setDescription</a:t>
            </a:r>
            <a:r>
              <a:rPr lang="en-IN" b="1" dirty="0">
                <a:latin typeface="Bell MT" panose="02020503060305020303" pitchFamily="18" charset="77"/>
              </a:rPr>
              <a:t>()</a:t>
            </a:r>
            <a:r>
              <a:rPr lang="en-IN" dirty="0">
                <a:latin typeface="Bell MT" panose="02020503060305020303" pitchFamily="18" charset="77"/>
              </a:rPr>
              <a:t> – Sets a description for the notification channel.</a:t>
            </a:r>
          </a:p>
          <a:p>
            <a:pPr lvl="0"/>
            <a:r>
              <a:rPr lang="en-IN" b="1" dirty="0" err="1">
                <a:latin typeface="Bell MT" panose="02020503060305020303" pitchFamily="18" charset="77"/>
              </a:rPr>
              <a:t>enableVibration</a:t>
            </a:r>
            <a:r>
              <a:rPr lang="en-IN" b="1" dirty="0">
                <a:latin typeface="Bell MT" panose="02020503060305020303" pitchFamily="18" charset="77"/>
              </a:rPr>
              <a:t>()</a:t>
            </a:r>
            <a:r>
              <a:rPr lang="en-IN" dirty="0">
                <a:latin typeface="Bell MT" panose="02020503060305020303" pitchFamily="18" charset="77"/>
              </a:rPr>
              <a:t> – Enables vibration for notifications from the channel.</a:t>
            </a:r>
          </a:p>
          <a:p>
            <a:pPr lvl="0"/>
            <a:r>
              <a:rPr lang="en-IN" b="1" dirty="0" err="1">
                <a:latin typeface="Bell MT" panose="02020503060305020303" pitchFamily="18" charset="77"/>
              </a:rPr>
              <a:t>createNotificationChannel</a:t>
            </a:r>
            <a:r>
              <a:rPr lang="en-IN" b="1" dirty="0">
                <a:latin typeface="Bell MT" panose="02020503060305020303" pitchFamily="18" charset="77"/>
              </a:rPr>
              <a:t>()</a:t>
            </a:r>
            <a:r>
              <a:rPr lang="en-IN" dirty="0">
                <a:latin typeface="Bell MT" panose="02020503060305020303" pitchFamily="18" charset="77"/>
              </a:rPr>
              <a:t> – Registers the notification channel with the Android system.</a:t>
            </a:r>
          </a:p>
          <a:p>
            <a:pPr lvl="0"/>
            <a:r>
              <a:rPr lang="en-IN" b="1" dirty="0">
                <a:latin typeface="Bell MT" panose="02020503060305020303" pitchFamily="18" charset="77"/>
              </a:rPr>
              <a:t>CHANNEL_ID</a:t>
            </a:r>
            <a:r>
              <a:rPr lang="en-IN" dirty="0">
                <a:latin typeface="Bell MT" panose="02020503060305020303" pitchFamily="18" charset="77"/>
              </a:rPr>
              <a:t> – Defines the unique identifier of the notification channel.</a:t>
            </a:r>
          </a:p>
          <a:p>
            <a:pPr lvl="0"/>
            <a:r>
              <a:rPr lang="en-IN" b="1" dirty="0">
                <a:latin typeface="Bell MT" panose="02020503060305020303" pitchFamily="18" charset="77"/>
              </a:rPr>
              <a:t>CHANNEL_NAME</a:t>
            </a:r>
            <a:r>
              <a:rPr lang="en-IN" dirty="0">
                <a:latin typeface="Bell MT" panose="02020503060305020303" pitchFamily="18" charset="77"/>
              </a:rPr>
              <a:t> – Defines the display name of the notification channel.</a:t>
            </a:r>
          </a:p>
          <a:p>
            <a:pPr lvl="0" algn="ctr"/>
            <a:endParaRPr lang="en-IN" dirty="0">
              <a:latin typeface="Bell MT" panose="02020503060305020303" pitchFamily="18" charset="77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00CFD9-EEBB-1043-4419-207BC9968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794" y="470593"/>
            <a:ext cx="2569038" cy="57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41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D10A-7F10-D0D5-F79D-23CBB35D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8F36A0F9-A7F1-465D-13FB-2CEC035E96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166DFEF-DB58-44C3-09AE-C3E435601EF8}"/>
              </a:ext>
            </a:extLst>
          </p:cNvPr>
          <p:cNvGrpSpPr/>
          <p:nvPr/>
        </p:nvGrpSpPr>
        <p:grpSpPr>
          <a:xfrm rot="-390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5977C4-9E46-DF8D-8B77-92872A504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8819644-3DB4-8A15-9A22-CDC02387F0AE}"/>
                </a:ext>
              </a:extLst>
            </p:cNvPr>
            <p:cNvSpPr/>
            <p:nvPr/>
          </p:nvSpPr>
          <p:spPr>
            <a:xfrm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757AD1E5-18AA-DA70-D81E-2A28BF8EE797}"/>
              </a:ext>
            </a:extLst>
          </p:cNvPr>
          <p:cNvSpPr/>
          <p:nvPr/>
        </p:nvSpPr>
        <p:spPr>
          <a:xfrm>
            <a:off x="-2197556" y="3806339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B42E4A-3329-A9D4-FB79-97B61D159044}"/>
              </a:ext>
            </a:extLst>
          </p:cNvPr>
          <p:cNvSpPr/>
          <p:nvPr/>
        </p:nvSpPr>
        <p:spPr>
          <a:xfrm>
            <a:off x="2964054" y="837137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53442E-F350-34E3-7504-C487F96E323A}"/>
              </a:ext>
            </a:extLst>
          </p:cNvPr>
          <p:cNvSpPr/>
          <p:nvPr/>
        </p:nvSpPr>
        <p:spPr>
          <a:xfrm>
            <a:off x="4113205" y="3053909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3CBDF8E-9F74-F26D-AE73-070DE066D1BE}"/>
              </a:ext>
            </a:extLst>
          </p:cNvPr>
          <p:cNvSpPr/>
          <p:nvPr/>
        </p:nvSpPr>
        <p:spPr>
          <a:xfrm>
            <a:off x="-1729468" y="5068532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D96E5F-E908-A04E-237C-0B9AEB3B87B7}"/>
              </a:ext>
            </a:extLst>
          </p:cNvPr>
          <p:cNvSpPr/>
          <p:nvPr/>
        </p:nvSpPr>
        <p:spPr>
          <a:xfrm>
            <a:off x="-1560041" y="5487484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B71077-1D1C-3C9E-20B0-3D3D77000CD8}"/>
              </a:ext>
            </a:extLst>
          </p:cNvPr>
          <p:cNvSpPr/>
          <p:nvPr/>
        </p:nvSpPr>
        <p:spPr>
          <a:xfrm>
            <a:off x="802002" y="6570024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960B54-F98E-6195-BECB-4D770A0424EA}"/>
              </a:ext>
            </a:extLst>
          </p:cNvPr>
          <p:cNvSpPr/>
          <p:nvPr/>
        </p:nvSpPr>
        <p:spPr>
          <a:xfrm>
            <a:off x="3343962" y="5486512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F7DB26-C708-B684-44AF-2085D002FF72}"/>
              </a:ext>
            </a:extLst>
          </p:cNvPr>
          <p:cNvSpPr txBox="1"/>
          <p:nvPr/>
        </p:nvSpPr>
        <p:spPr>
          <a:xfrm>
            <a:off x="3631019" y="5572042"/>
            <a:ext cx="4428343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Light"/>
              </a:rPr>
              <a:t>Smart Reminders</a:t>
            </a:r>
          </a:p>
          <a:p>
            <a:pPr algn="ctr"/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F41E9-5C0C-68E3-E025-DC7AEC341FC3}"/>
              </a:ext>
            </a:extLst>
          </p:cNvPr>
          <p:cNvSpPr txBox="1"/>
          <p:nvPr/>
        </p:nvSpPr>
        <p:spPr>
          <a:xfrm>
            <a:off x="4484558" y="2598295"/>
            <a:ext cx="7395147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accent4">
                    <a:lumMod val="40000"/>
                    <a:lumOff val="60000"/>
                  </a:schemeClr>
                </a:solidFill>
                <a:latin typeface="Copperplate Gothic Light"/>
              </a:rPr>
              <a:t>Progress History</a:t>
            </a:r>
          </a:p>
          <a:p>
            <a:r>
              <a:rPr lang="en-US" sz="3200">
                <a:solidFill>
                  <a:schemeClr val="accent4">
                    <a:lumMod val="20000"/>
                    <a:lumOff val="80000"/>
                  </a:schemeClr>
                </a:solidFill>
                <a:latin typeface="Baguet Script"/>
              </a:rPr>
              <a:t>Review completed quests, XP earned, </a:t>
            </a:r>
          </a:p>
          <a:p>
            <a:r>
              <a:rPr lang="en-US" sz="3200">
                <a:solidFill>
                  <a:schemeClr val="accent4">
                    <a:lumMod val="20000"/>
                    <a:lumOff val="80000"/>
                  </a:schemeClr>
                </a:solidFill>
                <a:latin typeface="Baguet Script"/>
              </a:rPr>
              <a:t>statistics, and past achievements.</a:t>
            </a:r>
            <a:endParaRPr lang="en-US" sz="320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endParaRPr lang="en-US" sz="280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32C336-645A-D87F-F0F5-1C9089443BCA}"/>
              </a:ext>
            </a:extLst>
          </p:cNvPr>
          <p:cNvSpPr txBox="1"/>
          <p:nvPr/>
        </p:nvSpPr>
        <p:spPr>
          <a:xfrm>
            <a:off x="3139316" y="409097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  <a:latin typeface="Copperplate Gothic Light"/>
              </a:rPr>
              <a:t>Data Export</a:t>
            </a:r>
          </a:p>
          <a:p>
            <a:pPr algn="ctr"/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70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FDEB7-0507-99C7-9A8D-36D56486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DBA0533-71D1-1FA5-11D6-23BAFDC5DFE2}"/>
              </a:ext>
            </a:extLst>
          </p:cNvPr>
          <p:cNvGrpSpPr/>
          <p:nvPr/>
        </p:nvGrpSpPr>
        <p:grpSpPr>
          <a:xfrm rot="-2460000">
            <a:off x="-9797766" y="233265"/>
            <a:ext cx="6453673" cy="6391469"/>
            <a:chOff x="590938" y="342122"/>
            <a:chExt cx="6453673" cy="639146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AF2D302-FFB4-4A66-6BA5-F28D24CE2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91253C-2D32-B695-6D00-C40D2745C2D5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6DB8CF5F-7B40-BA20-14A6-61F18025DABC}"/>
              </a:ext>
            </a:extLst>
          </p:cNvPr>
          <p:cNvSpPr/>
          <p:nvPr/>
        </p:nvSpPr>
        <p:spPr>
          <a:xfrm>
            <a:off x="-9149994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C50D89-AD11-4C76-5C86-89FE959D2697}"/>
              </a:ext>
            </a:extLst>
          </p:cNvPr>
          <p:cNvSpPr/>
          <p:nvPr/>
        </p:nvSpPr>
        <p:spPr>
          <a:xfrm>
            <a:off x="-4107151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9B15D60-89F1-2066-69C2-8F8D729B66C2}"/>
              </a:ext>
            </a:extLst>
          </p:cNvPr>
          <p:cNvSpPr/>
          <p:nvPr/>
        </p:nvSpPr>
        <p:spPr>
          <a:xfrm>
            <a:off x="-9868627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6F97E5-6232-B22D-FAFB-9B0493F10F7C}"/>
              </a:ext>
            </a:extLst>
          </p:cNvPr>
          <p:cNvSpPr/>
          <p:nvPr/>
        </p:nvSpPr>
        <p:spPr>
          <a:xfrm>
            <a:off x="-9867840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1BB07D-B968-058E-596E-637A21FA6CC9}"/>
              </a:ext>
            </a:extLst>
          </p:cNvPr>
          <p:cNvSpPr/>
          <p:nvPr/>
        </p:nvSpPr>
        <p:spPr>
          <a:xfrm>
            <a:off x="-9148469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01CD58-BA3E-FD91-832E-2EC01D78E6FB}"/>
              </a:ext>
            </a:extLst>
          </p:cNvPr>
          <p:cNvSpPr/>
          <p:nvPr/>
        </p:nvSpPr>
        <p:spPr>
          <a:xfrm>
            <a:off x="-6656476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3095C8F-5AB4-FBBE-1C1E-483A46CE6A3C}"/>
              </a:ext>
            </a:extLst>
          </p:cNvPr>
          <p:cNvSpPr/>
          <p:nvPr/>
        </p:nvSpPr>
        <p:spPr>
          <a:xfrm>
            <a:off x="-3469974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6EF9B8A-7610-6F58-044F-50F810EBDF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D43E237-627E-1510-0DA3-CDEF6D43B1A8}"/>
              </a:ext>
            </a:extLst>
          </p:cNvPr>
          <p:cNvSpPr txBox="1"/>
          <p:nvPr/>
        </p:nvSpPr>
        <p:spPr>
          <a:xfrm>
            <a:off x="7044266" y="2648623"/>
            <a:ext cx="43349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 err="1">
                <a:latin typeface="Bell MT" panose="02020503060305020303" pitchFamily="18" charset="77"/>
              </a:rPr>
              <a:t>ProgressBar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 err="1">
                <a:latin typeface="Bell MT" panose="02020503060305020303" pitchFamily="18" charset="77"/>
              </a:rPr>
              <a:t>SQLiteDatabase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 err="1">
                <a:latin typeface="Bell MT" panose="02020503060305020303" pitchFamily="18" charset="77"/>
              </a:rPr>
              <a:t>DatabaseHelper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>
                <a:latin typeface="Bell MT" panose="02020503060305020303" pitchFamily="18" charset="77"/>
              </a:rPr>
              <a:t>Cursor</a:t>
            </a:r>
          </a:p>
          <a:p>
            <a:pPr lvl="0"/>
            <a:r>
              <a:rPr lang="en-IN" sz="2000" dirty="0" err="1">
                <a:latin typeface="Bell MT" panose="02020503060305020303" pitchFamily="18" charset="77"/>
              </a:rPr>
              <a:t>GradientDrawable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 err="1">
                <a:latin typeface="Bell MT" panose="02020503060305020303" pitchFamily="18" charset="77"/>
              </a:rPr>
              <a:t>Color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>
                <a:latin typeface="Bell MT" panose="02020503060305020303" pitchFamily="18" charset="77"/>
              </a:rPr>
              <a:t>Scroll view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DDCF332-1B14-2A32-8B9B-615845DBE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802" y="656462"/>
            <a:ext cx="2484886" cy="554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36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48206-BC03-6749-FBDA-167FAC0D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181BCFA1-F7F9-F5F9-8492-8A03188415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214EB63-F796-826B-AE2E-1CD7A80A5A6B}"/>
              </a:ext>
            </a:extLst>
          </p:cNvPr>
          <p:cNvGrpSpPr/>
          <p:nvPr/>
        </p:nvGrpSpPr>
        <p:grpSpPr>
          <a:xfrm rot="-246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2E05E3-5B04-C730-93BF-4671BA4B7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9059C3C-EEB4-F2A0-1D7C-4A39A8046E68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A71B0F57-E06D-612A-4596-957FC589AD18}"/>
              </a:ext>
            </a:extLst>
          </p:cNvPr>
          <p:cNvSpPr/>
          <p:nvPr/>
        </p:nvSpPr>
        <p:spPr>
          <a:xfrm>
            <a:off x="-1560474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06C692-BF01-9A53-BC8F-E12AD20E2B53}"/>
              </a:ext>
            </a:extLst>
          </p:cNvPr>
          <p:cNvSpPr/>
          <p:nvPr/>
        </p:nvSpPr>
        <p:spPr>
          <a:xfrm>
            <a:off x="3482369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1154C6-BB48-4A54-82F4-EE56A6BDA7FD}"/>
              </a:ext>
            </a:extLst>
          </p:cNvPr>
          <p:cNvSpPr/>
          <p:nvPr/>
        </p:nvSpPr>
        <p:spPr>
          <a:xfrm>
            <a:off x="-2279107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14C1FE-2117-94A4-957D-8BDCBB17D7F0}"/>
              </a:ext>
            </a:extLst>
          </p:cNvPr>
          <p:cNvSpPr/>
          <p:nvPr/>
        </p:nvSpPr>
        <p:spPr>
          <a:xfrm>
            <a:off x="-2278320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90081D-A60D-E84D-E79A-84B25F830BB2}"/>
              </a:ext>
            </a:extLst>
          </p:cNvPr>
          <p:cNvSpPr/>
          <p:nvPr/>
        </p:nvSpPr>
        <p:spPr>
          <a:xfrm>
            <a:off x="-1558949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40B722-B3CD-34A8-5DFE-92713299F579}"/>
              </a:ext>
            </a:extLst>
          </p:cNvPr>
          <p:cNvSpPr/>
          <p:nvPr/>
        </p:nvSpPr>
        <p:spPr>
          <a:xfrm>
            <a:off x="933044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DA7B-0785-EFAC-44F5-921EE7BC4BA9}"/>
              </a:ext>
            </a:extLst>
          </p:cNvPr>
          <p:cNvSpPr txBox="1"/>
          <p:nvPr/>
        </p:nvSpPr>
        <p:spPr>
          <a:xfrm>
            <a:off x="3853722" y="5152869"/>
            <a:ext cx="7395147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pperplate Gothic Light"/>
              </a:rPr>
              <a:t>Progress History</a:t>
            </a:r>
          </a:p>
          <a:p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Baguet Script"/>
              </a:rPr>
              <a:t>.</a:t>
            </a: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BC0D8-89BB-5C59-9949-7D882F92355E}"/>
              </a:ext>
            </a:extLst>
          </p:cNvPr>
          <p:cNvSpPr txBox="1"/>
          <p:nvPr/>
        </p:nvSpPr>
        <p:spPr>
          <a:xfrm>
            <a:off x="4497050" y="2573312"/>
            <a:ext cx="701414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FFC000"/>
                </a:solidFill>
                <a:latin typeface="Copperplate Gothic Light"/>
              </a:rPr>
              <a:t>Data Export</a:t>
            </a:r>
          </a:p>
          <a:p>
            <a:r>
              <a:rPr lang="en-US" sz="3600">
                <a:solidFill>
                  <a:srgbClr val="D9BE6C"/>
                </a:solidFill>
                <a:latin typeface="Baguet Script"/>
              </a:rPr>
              <a:t>Export quest history and progress </a:t>
            </a:r>
          </a:p>
          <a:p>
            <a:r>
              <a:rPr lang="en-US" sz="3600">
                <a:solidFill>
                  <a:srgbClr val="D9BE6C"/>
                </a:solidFill>
                <a:latin typeface="Baguet Script"/>
              </a:rPr>
              <a:t>as CSV/TXT files.</a:t>
            </a:r>
            <a:endParaRPr lang="en-US" sz="3600"/>
          </a:p>
          <a:p>
            <a:pPr algn="ctr"/>
            <a:endParaRPr lang="en-US" sz="3200">
              <a:solidFill>
                <a:srgbClr val="FFC00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F8BFA8F-1C3E-71D6-33D9-119E4D889CCD}"/>
              </a:ext>
            </a:extLst>
          </p:cNvPr>
          <p:cNvSpPr/>
          <p:nvPr/>
        </p:nvSpPr>
        <p:spPr>
          <a:xfrm>
            <a:off x="4119546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A6FF6A-29C9-FB63-14F4-3AC5A3F49258}"/>
              </a:ext>
            </a:extLst>
          </p:cNvPr>
          <p:cNvSpPr txBox="1"/>
          <p:nvPr/>
        </p:nvSpPr>
        <p:spPr>
          <a:xfrm>
            <a:off x="12904033" y="2442147"/>
            <a:ext cx="6901721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accent5">
                    <a:lumMod val="20000"/>
                    <a:lumOff val="80000"/>
                  </a:schemeClr>
                </a:solidFill>
                <a:latin typeface="Footlight MT Light"/>
              </a:rPr>
              <a:t>Life RPG combines productivity tools with an interactive RPG experience.</a:t>
            </a:r>
          </a:p>
          <a:p>
            <a:pPr algn="ctr"/>
            <a:endParaRPr lang="en-US" sz="4400">
              <a:latin typeface="Footlight MT Light"/>
            </a:endParaRPr>
          </a:p>
        </p:txBody>
      </p:sp>
    </p:spTree>
    <p:extLst>
      <p:ext uri="{BB962C8B-B14F-4D97-AF65-F5344CB8AC3E}">
        <p14:creationId xmlns:p14="http://schemas.microsoft.com/office/powerpoint/2010/main" val="1148639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8F829-C6AD-3211-743C-E390C3DD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7CACED1-635B-E709-A26B-C788D12F94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02DF7B5-8ADC-64DD-6D5B-2EDA8093C255}"/>
              </a:ext>
            </a:extLst>
          </p:cNvPr>
          <p:cNvGrpSpPr/>
          <p:nvPr/>
        </p:nvGrpSpPr>
        <p:grpSpPr>
          <a:xfrm rot="1892785">
            <a:off x="-9767285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E4EC743-97A5-4AD4-3333-6CD8D643E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440FF05-7FC4-0409-C30C-7EB7D9F6AB97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293E78AC-1130-C9F7-9D22-45117D4A854A}"/>
              </a:ext>
            </a:extLst>
          </p:cNvPr>
          <p:cNvSpPr/>
          <p:nvPr/>
        </p:nvSpPr>
        <p:spPr>
          <a:xfrm rot="4352785">
            <a:off x="-9119513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7E6824-C39E-77F3-386B-9E137BA1E763}"/>
              </a:ext>
            </a:extLst>
          </p:cNvPr>
          <p:cNvSpPr/>
          <p:nvPr/>
        </p:nvSpPr>
        <p:spPr>
          <a:xfrm rot="4352785">
            <a:off x="-4076670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E04C7D-108D-7C40-BDF7-B9CC285B30E8}"/>
              </a:ext>
            </a:extLst>
          </p:cNvPr>
          <p:cNvSpPr/>
          <p:nvPr/>
        </p:nvSpPr>
        <p:spPr>
          <a:xfrm rot="4352785">
            <a:off x="-9838146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C1984C-938B-7F9D-F45E-9DD8B1BCE52A}"/>
              </a:ext>
            </a:extLst>
          </p:cNvPr>
          <p:cNvSpPr/>
          <p:nvPr/>
        </p:nvSpPr>
        <p:spPr>
          <a:xfrm rot="4352785">
            <a:off x="-9837359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B60C310-F72F-8BDE-8281-5280F35CDF40}"/>
              </a:ext>
            </a:extLst>
          </p:cNvPr>
          <p:cNvSpPr/>
          <p:nvPr/>
        </p:nvSpPr>
        <p:spPr>
          <a:xfrm rot="4352785">
            <a:off x="-9117988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0DD6DA-F2B2-5193-669F-E28862FA2591}"/>
              </a:ext>
            </a:extLst>
          </p:cNvPr>
          <p:cNvSpPr/>
          <p:nvPr/>
        </p:nvSpPr>
        <p:spPr>
          <a:xfrm rot="4352785">
            <a:off x="-6625995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4C8DEEA-7A35-1090-CDD6-041F713F7EBE}"/>
              </a:ext>
            </a:extLst>
          </p:cNvPr>
          <p:cNvSpPr/>
          <p:nvPr/>
        </p:nvSpPr>
        <p:spPr>
          <a:xfrm rot="4352785">
            <a:off x="-3439493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50E503F-54C5-A8B8-604B-D47045261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668" y="322709"/>
            <a:ext cx="2767131" cy="617490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B31A11-8339-470E-07E2-4928383BA6D9}"/>
              </a:ext>
            </a:extLst>
          </p:cNvPr>
          <p:cNvSpPr txBox="1"/>
          <p:nvPr/>
        </p:nvSpPr>
        <p:spPr>
          <a:xfrm>
            <a:off x="6400800" y="2481296"/>
            <a:ext cx="49236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 err="1">
                <a:latin typeface="Bell MT" panose="02020503060305020303" pitchFamily="18" charset="77"/>
              </a:rPr>
              <a:t>ZipOutputStream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 err="1">
                <a:latin typeface="Bell MT" panose="02020503060305020303" pitchFamily="18" charset="77"/>
              </a:rPr>
              <a:t>BufferedWriter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>
                <a:latin typeface="Bell MT" panose="02020503060305020303" pitchFamily="18" charset="77"/>
              </a:rPr>
              <a:t>StringBuilder</a:t>
            </a:r>
          </a:p>
          <a:p>
            <a:r>
              <a:rPr lang="en-IN" sz="2000" dirty="0" err="1">
                <a:latin typeface="Bell MT" panose="02020503060305020303" pitchFamily="18" charset="77"/>
              </a:rPr>
              <a:t>Intent.ACTION_CREATE_DOCUMENT</a:t>
            </a:r>
            <a:r>
              <a:rPr lang="en-IN" sz="2000" dirty="0">
                <a:latin typeface="Bell MT" panose="02020503060305020303" pitchFamily="18" charset="77"/>
              </a:rPr>
              <a:t> — the Java component used to open Android’s file picker and allow users to choose where to save exported data.</a:t>
            </a:r>
          </a:p>
          <a:p>
            <a:pPr lvl="0"/>
            <a:endParaRPr lang="en-IN" sz="2000" dirty="0">
              <a:latin typeface="Bell MT" panose="020205030603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50626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ACC6F-9D41-8481-CD84-C100D878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2536EE3-255F-DCA3-F766-F27D8EF9DF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E6A5048-55EA-0687-6D65-7462646D814D}"/>
              </a:ext>
            </a:extLst>
          </p:cNvPr>
          <p:cNvGrpSpPr/>
          <p:nvPr/>
        </p:nvGrpSpPr>
        <p:grpSpPr>
          <a:xfrm rot="1892785">
            <a:off x="-9767285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54FAF2-D3A2-03DC-CBAF-918BF9F30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98AE35B-D964-1136-5015-78332ADC12FB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ED4DB9D-674F-413B-D6EC-D128EFD02275}"/>
              </a:ext>
            </a:extLst>
          </p:cNvPr>
          <p:cNvSpPr/>
          <p:nvPr/>
        </p:nvSpPr>
        <p:spPr>
          <a:xfrm rot="4352785">
            <a:off x="-9119513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7ADCAE3-08F5-9FB2-18AA-A38711ADA68E}"/>
              </a:ext>
            </a:extLst>
          </p:cNvPr>
          <p:cNvSpPr/>
          <p:nvPr/>
        </p:nvSpPr>
        <p:spPr>
          <a:xfrm rot="4352785">
            <a:off x="-4076670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09BDF4-5779-98C4-4BBB-8E100EAA3FA1}"/>
              </a:ext>
            </a:extLst>
          </p:cNvPr>
          <p:cNvSpPr/>
          <p:nvPr/>
        </p:nvSpPr>
        <p:spPr>
          <a:xfrm rot="4352785">
            <a:off x="-9838146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33BAC8-CED1-D5B7-7F79-E276DEF8CA96}"/>
              </a:ext>
            </a:extLst>
          </p:cNvPr>
          <p:cNvSpPr/>
          <p:nvPr/>
        </p:nvSpPr>
        <p:spPr>
          <a:xfrm rot="4352785">
            <a:off x="-9837359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8F0ABD-4B4F-D5D8-95E0-1BAF26E06E46}"/>
              </a:ext>
            </a:extLst>
          </p:cNvPr>
          <p:cNvSpPr/>
          <p:nvPr/>
        </p:nvSpPr>
        <p:spPr>
          <a:xfrm rot="4352785">
            <a:off x="-9117988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76A902E-14C4-5209-240C-6E7444D546E6}"/>
              </a:ext>
            </a:extLst>
          </p:cNvPr>
          <p:cNvSpPr/>
          <p:nvPr/>
        </p:nvSpPr>
        <p:spPr>
          <a:xfrm rot="4352785">
            <a:off x="-6625995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7A158C-5897-018B-AC9E-320E0482AE96}"/>
              </a:ext>
            </a:extLst>
          </p:cNvPr>
          <p:cNvSpPr/>
          <p:nvPr/>
        </p:nvSpPr>
        <p:spPr>
          <a:xfrm rot="4352785">
            <a:off x="-3439493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C7BAA73-0769-69C9-E228-568F5B715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668" y="322709"/>
            <a:ext cx="2767131" cy="617490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8BC702C-2C37-9B4D-7740-BFED75EBD292}"/>
              </a:ext>
            </a:extLst>
          </p:cNvPr>
          <p:cNvSpPr txBox="1"/>
          <p:nvPr/>
        </p:nvSpPr>
        <p:spPr>
          <a:xfrm>
            <a:off x="6400800" y="2481296"/>
            <a:ext cx="49236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 err="1">
                <a:latin typeface="Bell MT" panose="02020503060305020303" pitchFamily="18" charset="77"/>
              </a:rPr>
              <a:t>ZipOutputStream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 err="1">
                <a:latin typeface="Bell MT" panose="02020503060305020303" pitchFamily="18" charset="77"/>
              </a:rPr>
              <a:t>BufferedWriter</a:t>
            </a:r>
            <a:endParaRPr lang="en-IN" sz="2000" dirty="0">
              <a:latin typeface="Bell MT" panose="02020503060305020303" pitchFamily="18" charset="77"/>
            </a:endParaRPr>
          </a:p>
          <a:p>
            <a:pPr lvl="0"/>
            <a:r>
              <a:rPr lang="en-IN" sz="2000" dirty="0">
                <a:latin typeface="Bell MT" panose="02020503060305020303" pitchFamily="18" charset="77"/>
              </a:rPr>
              <a:t>StringBuilder</a:t>
            </a:r>
          </a:p>
          <a:p>
            <a:r>
              <a:rPr lang="en-IN" sz="2000" dirty="0" err="1">
                <a:latin typeface="Bell MT" panose="02020503060305020303" pitchFamily="18" charset="77"/>
              </a:rPr>
              <a:t>Intent.ACTION_CREATE_DOCUMENT</a:t>
            </a:r>
            <a:r>
              <a:rPr lang="en-IN" sz="2000" dirty="0">
                <a:latin typeface="Bell MT" panose="02020503060305020303" pitchFamily="18" charset="77"/>
              </a:rPr>
              <a:t> — the Java component used to open Android’s file picker and allow users to choose where to save exported data.</a:t>
            </a:r>
          </a:p>
          <a:p>
            <a:pPr lvl="0"/>
            <a:endParaRPr lang="en-IN" sz="2000" dirty="0">
              <a:latin typeface="Bell MT" panose="020205030603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58307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5151-68FB-587A-098E-BE609E6C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4921DFF-9592-D085-BDA5-900F64B14C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72CD0E6-62A5-9252-CC92-6861442DABB0}"/>
              </a:ext>
            </a:extLst>
          </p:cNvPr>
          <p:cNvGrpSpPr/>
          <p:nvPr/>
        </p:nvGrpSpPr>
        <p:grpSpPr>
          <a:xfrm rot="1892785">
            <a:off x="-9767285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1CED334-C1B0-E0D8-5F0B-917E777E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8A06A95-A60E-B969-0327-2D21BB00F9AA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B7A9800C-99E9-8290-9444-99FDBFEBDD6B}"/>
              </a:ext>
            </a:extLst>
          </p:cNvPr>
          <p:cNvSpPr/>
          <p:nvPr/>
        </p:nvSpPr>
        <p:spPr>
          <a:xfrm rot="4352785">
            <a:off x="-9119513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F7421C-08BF-2FA4-4D3B-3294E5C6AF82}"/>
              </a:ext>
            </a:extLst>
          </p:cNvPr>
          <p:cNvSpPr/>
          <p:nvPr/>
        </p:nvSpPr>
        <p:spPr>
          <a:xfrm rot="4352785">
            <a:off x="-4076670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5C2847E-B61B-4C6C-1B4C-79A595CB922A}"/>
              </a:ext>
            </a:extLst>
          </p:cNvPr>
          <p:cNvSpPr/>
          <p:nvPr/>
        </p:nvSpPr>
        <p:spPr>
          <a:xfrm rot="4352785">
            <a:off x="-9838146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3CDE44-987C-82D3-65E3-05140F1CF0A7}"/>
              </a:ext>
            </a:extLst>
          </p:cNvPr>
          <p:cNvSpPr/>
          <p:nvPr/>
        </p:nvSpPr>
        <p:spPr>
          <a:xfrm rot="4352785">
            <a:off x="-9837359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1403F58-0004-880A-996F-A64C2E42237B}"/>
              </a:ext>
            </a:extLst>
          </p:cNvPr>
          <p:cNvSpPr/>
          <p:nvPr/>
        </p:nvSpPr>
        <p:spPr>
          <a:xfrm rot="4352785">
            <a:off x="-9117988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02FB4A-9B29-410C-7280-FCB96FACCF8C}"/>
              </a:ext>
            </a:extLst>
          </p:cNvPr>
          <p:cNvSpPr/>
          <p:nvPr/>
        </p:nvSpPr>
        <p:spPr>
          <a:xfrm rot="4352785">
            <a:off x="-6625995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4AC488-BF46-4F55-5CF7-3998D36EC389}"/>
              </a:ext>
            </a:extLst>
          </p:cNvPr>
          <p:cNvSpPr/>
          <p:nvPr/>
        </p:nvSpPr>
        <p:spPr>
          <a:xfrm rot="4352785">
            <a:off x="-3439493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6ADB5-E44D-9099-3231-6E3057238F22}"/>
              </a:ext>
            </a:extLst>
          </p:cNvPr>
          <p:cNvSpPr txBox="1"/>
          <p:nvPr/>
        </p:nvSpPr>
        <p:spPr>
          <a:xfrm>
            <a:off x="7301288" y="2333230"/>
            <a:ext cx="33805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Forgot Password — </a:t>
            </a:r>
          </a:p>
          <a:p>
            <a:pPr>
              <a:buNone/>
            </a:pPr>
            <a:r>
              <a:rPr lang="en-IN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forgot_password.java</a:t>
            </a:r>
            <a:endParaRPr lang="en-IN" b="1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Patterns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TextUtils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Toast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ContentValues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E5146-AC26-75E8-0B1B-50DF320E225F}"/>
              </a:ext>
            </a:extLst>
          </p:cNvPr>
          <p:cNvSpPr txBox="1"/>
          <p:nvPr/>
        </p:nvSpPr>
        <p:spPr>
          <a:xfrm>
            <a:off x="5611034" y="109818"/>
            <a:ext cx="3380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Additional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92E714-6207-0E2A-7179-C359642A8D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505" y="834209"/>
            <a:ext cx="2550903" cy="569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6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6EF2-833A-9EB4-005F-92035953B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D4E41AF-AA21-2E75-CD97-3598CD0D5B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25134DF-AF88-93FB-18EF-C24020968796}"/>
              </a:ext>
            </a:extLst>
          </p:cNvPr>
          <p:cNvGrpSpPr/>
          <p:nvPr/>
        </p:nvGrpSpPr>
        <p:grpSpPr>
          <a:xfrm rot="1892785">
            <a:off x="-9767285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5E776A7-23AB-BA6C-148C-60972FDE8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32E840-2D67-863B-E22A-94AD11F68DEA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AFEB5BFF-9C4F-10BB-2564-32349A8FB52D}"/>
              </a:ext>
            </a:extLst>
          </p:cNvPr>
          <p:cNvSpPr/>
          <p:nvPr/>
        </p:nvSpPr>
        <p:spPr>
          <a:xfrm rot="4352785">
            <a:off x="-9119513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7F78B5-E8AB-CB16-062E-7E551556A74D}"/>
              </a:ext>
            </a:extLst>
          </p:cNvPr>
          <p:cNvSpPr/>
          <p:nvPr/>
        </p:nvSpPr>
        <p:spPr>
          <a:xfrm rot="4352785">
            <a:off x="-4076670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3B304C-BFCE-F50F-0968-515DD7347BE6}"/>
              </a:ext>
            </a:extLst>
          </p:cNvPr>
          <p:cNvSpPr/>
          <p:nvPr/>
        </p:nvSpPr>
        <p:spPr>
          <a:xfrm rot="4352785">
            <a:off x="-9838146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56881B-92F2-EE22-9D27-80344449F699}"/>
              </a:ext>
            </a:extLst>
          </p:cNvPr>
          <p:cNvSpPr/>
          <p:nvPr/>
        </p:nvSpPr>
        <p:spPr>
          <a:xfrm rot="4352785">
            <a:off x="-9837359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835E2B-2825-5C6D-CBBD-44DBA3B2DD95}"/>
              </a:ext>
            </a:extLst>
          </p:cNvPr>
          <p:cNvSpPr/>
          <p:nvPr/>
        </p:nvSpPr>
        <p:spPr>
          <a:xfrm rot="4352785">
            <a:off x="-9117988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FF4EB0-03B3-4048-396F-D96790E49C1C}"/>
              </a:ext>
            </a:extLst>
          </p:cNvPr>
          <p:cNvSpPr/>
          <p:nvPr/>
        </p:nvSpPr>
        <p:spPr>
          <a:xfrm rot="4352785">
            <a:off x="-6625995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20C2A5-4FC8-6CC7-D776-F39F61AD8066}"/>
              </a:ext>
            </a:extLst>
          </p:cNvPr>
          <p:cNvSpPr/>
          <p:nvPr/>
        </p:nvSpPr>
        <p:spPr>
          <a:xfrm rot="4352785">
            <a:off x="-3439493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2289A-BF40-2A3F-DD55-D48A5F0BD443}"/>
              </a:ext>
            </a:extLst>
          </p:cNvPr>
          <p:cNvSpPr txBox="1"/>
          <p:nvPr/>
        </p:nvSpPr>
        <p:spPr>
          <a:xfrm>
            <a:off x="5611034" y="109818"/>
            <a:ext cx="3380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Additional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21849-7C99-5EEC-71EA-A045BED693AD}"/>
              </a:ext>
            </a:extLst>
          </p:cNvPr>
          <p:cNvSpPr txBox="1"/>
          <p:nvPr/>
        </p:nvSpPr>
        <p:spPr>
          <a:xfrm>
            <a:off x="7828235" y="2565847"/>
            <a:ext cx="20504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Profile — </a:t>
            </a:r>
          </a:p>
          <a:p>
            <a:pPr>
              <a:buNone/>
            </a:pPr>
            <a:r>
              <a:rPr lang="en-IN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profile.java</a:t>
            </a:r>
            <a:endParaRPr lang="en-IN" b="1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Intent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Toast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697CA-3B5B-611E-69D8-E9C9BAF29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619" y="724419"/>
            <a:ext cx="2638360" cy="588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32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A34AB-981C-EEF4-CD39-38CC14F0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156EBF3-5196-8BC1-E18F-036D6D4ABF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D13592A-B3E0-7A97-23B8-42B76CBF99AF}"/>
              </a:ext>
            </a:extLst>
          </p:cNvPr>
          <p:cNvGrpSpPr/>
          <p:nvPr/>
        </p:nvGrpSpPr>
        <p:grpSpPr>
          <a:xfrm rot="1892785">
            <a:off x="-9767285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A2C1047-E04D-0491-65FA-CEFCFD3D5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53DAB97-88A9-81DF-902F-06B6F328D1F8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5288AF6A-12F4-FCC5-D78E-C00A972FB03F}"/>
              </a:ext>
            </a:extLst>
          </p:cNvPr>
          <p:cNvSpPr/>
          <p:nvPr/>
        </p:nvSpPr>
        <p:spPr>
          <a:xfrm rot="4352785">
            <a:off x="-9119513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ADA5419-E4AA-3EF8-97E5-C34D4DAA35E2}"/>
              </a:ext>
            </a:extLst>
          </p:cNvPr>
          <p:cNvSpPr/>
          <p:nvPr/>
        </p:nvSpPr>
        <p:spPr>
          <a:xfrm rot="4352785">
            <a:off x="-4076670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B6BE19-8AF2-DB5E-079D-0E7450114D4D}"/>
              </a:ext>
            </a:extLst>
          </p:cNvPr>
          <p:cNvSpPr/>
          <p:nvPr/>
        </p:nvSpPr>
        <p:spPr>
          <a:xfrm rot="4352785">
            <a:off x="-9838146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AE8961-719D-63D9-A140-762C90D79303}"/>
              </a:ext>
            </a:extLst>
          </p:cNvPr>
          <p:cNvSpPr/>
          <p:nvPr/>
        </p:nvSpPr>
        <p:spPr>
          <a:xfrm rot="4352785">
            <a:off x="-9837359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7A6D23-3385-E1DF-B8C5-F47BB3FE8805}"/>
              </a:ext>
            </a:extLst>
          </p:cNvPr>
          <p:cNvSpPr/>
          <p:nvPr/>
        </p:nvSpPr>
        <p:spPr>
          <a:xfrm rot="4352785">
            <a:off x="-9117988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07C778-2B43-5720-73B5-A5C6A9A15AEF}"/>
              </a:ext>
            </a:extLst>
          </p:cNvPr>
          <p:cNvSpPr/>
          <p:nvPr/>
        </p:nvSpPr>
        <p:spPr>
          <a:xfrm rot="4352785">
            <a:off x="-6625995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2374EE-1CD8-F9D0-68C5-D3D8836B1352}"/>
              </a:ext>
            </a:extLst>
          </p:cNvPr>
          <p:cNvSpPr/>
          <p:nvPr/>
        </p:nvSpPr>
        <p:spPr>
          <a:xfrm rot="4352785">
            <a:off x="-3439493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FED1F-81DD-EC89-B5C9-073E459644F0}"/>
              </a:ext>
            </a:extLst>
          </p:cNvPr>
          <p:cNvSpPr txBox="1"/>
          <p:nvPr/>
        </p:nvSpPr>
        <p:spPr>
          <a:xfrm>
            <a:off x="5611034" y="109818"/>
            <a:ext cx="3380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Additional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33A2E-BC5D-DD2C-3733-48A6AAFED33C}"/>
              </a:ext>
            </a:extLst>
          </p:cNvPr>
          <p:cNvSpPr txBox="1"/>
          <p:nvPr/>
        </p:nvSpPr>
        <p:spPr>
          <a:xfrm>
            <a:off x="8550004" y="2409275"/>
            <a:ext cx="34359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Shop — </a:t>
            </a:r>
          </a:p>
          <a:p>
            <a:pPr>
              <a:buNone/>
            </a:pPr>
            <a:r>
              <a:rPr lang="en-IN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shop.java</a:t>
            </a:r>
            <a:endParaRPr lang="en-IN" b="1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ListView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ShopAdapter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ArrayList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Toast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8954FE-B8C0-F69C-7812-D3E82D87E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360" y="718157"/>
            <a:ext cx="2522383" cy="56297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D21E56-C512-AFCF-5869-097751228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066" y="718157"/>
            <a:ext cx="2522840" cy="562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86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A6E6D-F221-C8B0-D387-477AA540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3F1D350-C6F5-C4B1-0DD1-8B1A51196F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EC68A34-A604-DD91-5D77-A40DC222A797}"/>
              </a:ext>
            </a:extLst>
          </p:cNvPr>
          <p:cNvGrpSpPr/>
          <p:nvPr/>
        </p:nvGrpSpPr>
        <p:grpSpPr>
          <a:xfrm rot="1892785">
            <a:off x="-9767285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803AF85-3EC2-A2E6-4048-6ADAC8893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E69BC0-C9C2-769A-43CA-777F920AAD91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D46260B6-BB39-CB0F-24E3-9F6A3175EE79}"/>
              </a:ext>
            </a:extLst>
          </p:cNvPr>
          <p:cNvSpPr/>
          <p:nvPr/>
        </p:nvSpPr>
        <p:spPr>
          <a:xfrm rot="4352785">
            <a:off x="-9119513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C126260-9EDF-68D9-17E7-01E4DD152BD0}"/>
              </a:ext>
            </a:extLst>
          </p:cNvPr>
          <p:cNvSpPr/>
          <p:nvPr/>
        </p:nvSpPr>
        <p:spPr>
          <a:xfrm rot="4352785">
            <a:off x="-4076670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E3F56A6-0CB4-0484-18A5-9690BB8CB8AB}"/>
              </a:ext>
            </a:extLst>
          </p:cNvPr>
          <p:cNvSpPr/>
          <p:nvPr/>
        </p:nvSpPr>
        <p:spPr>
          <a:xfrm rot="4352785">
            <a:off x="-9838146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F332A5-0DE2-B580-439F-D79A897C013B}"/>
              </a:ext>
            </a:extLst>
          </p:cNvPr>
          <p:cNvSpPr/>
          <p:nvPr/>
        </p:nvSpPr>
        <p:spPr>
          <a:xfrm rot="4352785">
            <a:off x="-9837359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58A4C0-E14A-0FD0-0829-1E0F48FF73E6}"/>
              </a:ext>
            </a:extLst>
          </p:cNvPr>
          <p:cNvSpPr/>
          <p:nvPr/>
        </p:nvSpPr>
        <p:spPr>
          <a:xfrm rot="4352785">
            <a:off x="-9117988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7C12E88-7F98-A294-45A8-4A12E2E01AF1}"/>
              </a:ext>
            </a:extLst>
          </p:cNvPr>
          <p:cNvSpPr/>
          <p:nvPr/>
        </p:nvSpPr>
        <p:spPr>
          <a:xfrm rot="4352785">
            <a:off x="-6625995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CFEFA2-1E7F-3A0D-C8B9-09D48E82E263}"/>
              </a:ext>
            </a:extLst>
          </p:cNvPr>
          <p:cNvSpPr/>
          <p:nvPr/>
        </p:nvSpPr>
        <p:spPr>
          <a:xfrm rot="4352785">
            <a:off x="-3439493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59D8D-8DC6-1566-414B-E75770006A40}"/>
              </a:ext>
            </a:extLst>
          </p:cNvPr>
          <p:cNvSpPr txBox="1"/>
          <p:nvPr/>
        </p:nvSpPr>
        <p:spPr>
          <a:xfrm>
            <a:off x="5611034" y="109818"/>
            <a:ext cx="3380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Additional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E116A-6AAE-E015-C791-94548E1F52E3}"/>
              </a:ext>
            </a:extLst>
          </p:cNvPr>
          <p:cNvSpPr txBox="1"/>
          <p:nvPr/>
        </p:nvSpPr>
        <p:spPr>
          <a:xfrm>
            <a:off x="7880794" y="2517380"/>
            <a:ext cx="37130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Challenges — </a:t>
            </a:r>
          </a:p>
          <a:p>
            <a:pPr>
              <a:buNone/>
            </a:pPr>
            <a:r>
              <a:rPr lang="en-IN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challenges.java</a:t>
            </a:r>
            <a:endParaRPr lang="en-IN" b="1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Calendar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SimpleDateFormat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Locale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ContentValues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Toast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0434BC-7B00-BA38-A54D-CC61B9108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907" y="588967"/>
            <a:ext cx="2675477" cy="597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62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AE25-7C25-718E-19BE-4B0B9976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79FA473-4AFF-6055-348F-05136BA519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BE9E2A8-11B9-BE09-97C0-A537365A8416}"/>
              </a:ext>
            </a:extLst>
          </p:cNvPr>
          <p:cNvGrpSpPr/>
          <p:nvPr/>
        </p:nvGrpSpPr>
        <p:grpSpPr>
          <a:xfrm rot="1892785">
            <a:off x="-9767285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65D1648-930A-E1B0-AF2B-1B4BBB374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B7E298-C1B7-CFE5-2EBF-7F0A1C953745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4A315095-5DC1-E6AB-F1E8-B42C145B3153}"/>
              </a:ext>
            </a:extLst>
          </p:cNvPr>
          <p:cNvSpPr/>
          <p:nvPr/>
        </p:nvSpPr>
        <p:spPr>
          <a:xfrm rot="4352785">
            <a:off x="-9119513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245841-4C22-23FB-A4B5-1F33303D070E}"/>
              </a:ext>
            </a:extLst>
          </p:cNvPr>
          <p:cNvSpPr/>
          <p:nvPr/>
        </p:nvSpPr>
        <p:spPr>
          <a:xfrm rot="4352785">
            <a:off x="-4076670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801D34-02A8-2BC2-F8AA-61A79F87D5DA}"/>
              </a:ext>
            </a:extLst>
          </p:cNvPr>
          <p:cNvSpPr/>
          <p:nvPr/>
        </p:nvSpPr>
        <p:spPr>
          <a:xfrm rot="4352785">
            <a:off x="-9838146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BC126D-0377-D55E-33C2-F8FED63DF36C}"/>
              </a:ext>
            </a:extLst>
          </p:cNvPr>
          <p:cNvSpPr/>
          <p:nvPr/>
        </p:nvSpPr>
        <p:spPr>
          <a:xfrm rot="4352785">
            <a:off x="-9837359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1219FE-8B65-F795-BF54-73F3E386591F}"/>
              </a:ext>
            </a:extLst>
          </p:cNvPr>
          <p:cNvSpPr/>
          <p:nvPr/>
        </p:nvSpPr>
        <p:spPr>
          <a:xfrm rot="4352785">
            <a:off x="-9117988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915474-84DF-45C7-85E1-27CB01E6C366}"/>
              </a:ext>
            </a:extLst>
          </p:cNvPr>
          <p:cNvSpPr/>
          <p:nvPr/>
        </p:nvSpPr>
        <p:spPr>
          <a:xfrm rot="4352785">
            <a:off x="-6625995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EA1B70-4916-721F-C7F0-E2F39BCEC769}"/>
              </a:ext>
            </a:extLst>
          </p:cNvPr>
          <p:cNvSpPr/>
          <p:nvPr/>
        </p:nvSpPr>
        <p:spPr>
          <a:xfrm rot="4352785">
            <a:off x="-3439493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8FE29-B1C5-0090-4657-BB04557E1775}"/>
              </a:ext>
            </a:extLst>
          </p:cNvPr>
          <p:cNvSpPr txBox="1"/>
          <p:nvPr/>
        </p:nvSpPr>
        <p:spPr>
          <a:xfrm>
            <a:off x="5611034" y="109818"/>
            <a:ext cx="3380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Additional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4B9B-ADA2-B5F1-A254-6E75D1B1A80B}"/>
              </a:ext>
            </a:extLst>
          </p:cNvPr>
          <p:cNvSpPr txBox="1"/>
          <p:nvPr/>
        </p:nvSpPr>
        <p:spPr>
          <a:xfrm>
            <a:off x="7929709" y="216492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Achievements — </a:t>
            </a:r>
          </a:p>
          <a:p>
            <a:pPr>
              <a:buNone/>
            </a:pPr>
            <a:r>
              <a:rPr lang="en-IN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achievement.java</a:t>
            </a:r>
            <a:endParaRPr lang="en-IN" b="1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ProgressBar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HorizontalScrollView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ArrayList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Typeface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Gravity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1C2FD-6F17-2C72-5678-62E5733C5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632" y="577678"/>
            <a:ext cx="2648291" cy="591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881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D601-E274-A534-4CCB-31BA56FC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68672C-BC9F-DC2C-DA62-FDB1E1B4CF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BC2504D-C2E6-38AD-F41A-1E69C33D505B}"/>
              </a:ext>
            </a:extLst>
          </p:cNvPr>
          <p:cNvGrpSpPr/>
          <p:nvPr/>
        </p:nvGrpSpPr>
        <p:grpSpPr>
          <a:xfrm rot="1892785">
            <a:off x="-9767285" y="233265"/>
            <a:ext cx="6453673" cy="6391469"/>
            <a:chOff x="590938" y="342122"/>
            <a:chExt cx="6453673" cy="63914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99506FD-59D8-B437-EFF9-5242C4B39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62A6ED4-DD7C-3CA4-EA9D-D2CDE22FD498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3C9D6899-FE24-DAE9-9485-90D6F8F3E459}"/>
              </a:ext>
            </a:extLst>
          </p:cNvPr>
          <p:cNvSpPr/>
          <p:nvPr/>
        </p:nvSpPr>
        <p:spPr>
          <a:xfrm rot="4352785">
            <a:off x="-9119513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A22FFE8-5DF3-1A51-F5AC-46BC69EACE34}"/>
              </a:ext>
            </a:extLst>
          </p:cNvPr>
          <p:cNvSpPr/>
          <p:nvPr/>
        </p:nvSpPr>
        <p:spPr>
          <a:xfrm rot="4352785">
            <a:off x="-4076670" y="5239975"/>
            <a:ext cx="171061" cy="1710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1AA166-9D1E-60CB-CE26-87249AB66E96}"/>
              </a:ext>
            </a:extLst>
          </p:cNvPr>
          <p:cNvSpPr/>
          <p:nvPr/>
        </p:nvSpPr>
        <p:spPr>
          <a:xfrm rot="4352785">
            <a:off x="-9838146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08A7A6-B13E-5AE9-8B7F-F3B8564CE236}"/>
              </a:ext>
            </a:extLst>
          </p:cNvPr>
          <p:cNvSpPr/>
          <p:nvPr/>
        </p:nvSpPr>
        <p:spPr>
          <a:xfrm rot="4352785">
            <a:off x="-9837359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465A50-40D4-F8EC-BDB0-7EE8483B71E2}"/>
              </a:ext>
            </a:extLst>
          </p:cNvPr>
          <p:cNvSpPr/>
          <p:nvPr/>
        </p:nvSpPr>
        <p:spPr>
          <a:xfrm rot="4352785">
            <a:off x="-9117988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F796CD-0960-4168-3AD9-059C325AA402}"/>
              </a:ext>
            </a:extLst>
          </p:cNvPr>
          <p:cNvSpPr/>
          <p:nvPr/>
        </p:nvSpPr>
        <p:spPr>
          <a:xfrm rot="4352785">
            <a:off x="-6625995" y="6548316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3CBD4D-15EA-F398-8F4C-D87773B4F789}"/>
              </a:ext>
            </a:extLst>
          </p:cNvPr>
          <p:cNvSpPr/>
          <p:nvPr/>
        </p:nvSpPr>
        <p:spPr>
          <a:xfrm rot="4352785">
            <a:off x="-3439493" y="2973235"/>
            <a:ext cx="171061" cy="17106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0FAA3-3333-6B38-3212-99800D8128AD}"/>
              </a:ext>
            </a:extLst>
          </p:cNvPr>
          <p:cNvSpPr txBox="1"/>
          <p:nvPr/>
        </p:nvSpPr>
        <p:spPr>
          <a:xfrm>
            <a:off x="5611034" y="109818"/>
            <a:ext cx="3380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Additional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23243-3CBC-D123-D43D-6A70876625EB}"/>
              </a:ext>
            </a:extLst>
          </p:cNvPr>
          <p:cNvSpPr txBox="1"/>
          <p:nvPr/>
        </p:nvSpPr>
        <p:spPr>
          <a:xfrm>
            <a:off x="8120628" y="1563214"/>
            <a:ext cx="36783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Life Map — </a:t>
            </a:r>
          </a:p>
          <a:p>
            <a:pPr>
              <a:buNone/>
            </a:pPr>
            <a:r>
              <a:rPr lang="en-IN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lifemap.java</a:t>
            </a:r>
            <a:endParaRPr lang="en-IN" b="1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GoogleMap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SupportMapFragment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OnMapReadyCallback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LatLng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Marker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MarkerOptions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PlacesClient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AutocompletePrediction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Handler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Looper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ArrayAdapter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Bell MT" panose="02020503060305020303" pitchFamily="18" charset="77"/>
              </a:rPr>
              <a:t>AlertDialog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Bell MT" panose="02020503060305020303" pitchFamily="18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BFF51-E81D-1AA9-2714-5F0ABC4FB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519" y="620915"/>
            <a:ext cx="2693957" cy="601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64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D3DA2-4F27-EF32-396C-88F02F77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ACCE6699-359F-1C31-9F29-C03579A202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31746A0-60F2-E7E3-F6EF-988B0C45328D}"/>
              </a:ext>
            </a:extLst>
          </p:cNvPr>
          <p:cNvGrpSpPr/>
          <p:nvPr/>
        </p:nvGrpSpPr>
        <p:grpSpPr>
          <a:xfrm rot="30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6B127AB-C164-C492-CF18-6FE27D5C2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BBFB63F-C211-DBF5-9F0A-25C4DCF74156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5D4265EA-1509-BF37-2034-3474B9B609D5}"/>
              </a:ext>
            </a:extLst>
          </p:cNvPr>
          <p:cNvSpPr/>
          <p:nvPr/>
        </p:nvSpPr>
        <p:spPr>
          <a:xfrm>
            <a:off x="-1560474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721DE9-0D9E-FF8C-8038-D137B2A4BF06}"/>
              </a:ext>
            </a:extLst>
          </p:cNvPr>
          <p:cNvSpPr/>
          <p:nvPr/>
        </p:nvSpPr>
        <p:spPr>
          <a:xfrm>
            <a:off x="-2279107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39F404-BC95-EFF8-6350-A51448509E25}"/>
              </a:ext>
            </a:extLst>
          </p:cNvPr>
          <p:cNvSpPr/>
          <p:nvPr/>
        </p:nvSpPr>
        <p:spPr>
          <a:xfrm>
            <a:off x="-2278320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68A444-FFA4-0C2A-E786-14C16F9475B5}"/>
              </a:ext>
            </a:extLst>
          </p:cNvPr>
          <p:cNvSpPr/>
          <p:nvPr/>
        </p:nvSpPr>
        <p:spPr>
          <a:xfrm>
            <a:off x="-1558949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106A7F-C99E-7DBD-2EB3-9A2BDD713AAF}"/>
              </a:ext>
            </a:extLst>
          </p:cNvPr>
          <p:cNvSpPr/>
          <p:nvPr/>
        </p:nvSpPr>
        <p:spPr>
          <a:xfrm>
            <a:off x="-1733956" y="5573955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225713-95DB-E18F-603D-3D644A006396}"/>
              </a:ext>
            </a:extLst>
          </p:cNvPr>
          <p:cNvSpPr txBox="1"/>
          <p:nvPr/>
        </p:nvSpPr>
        <p:spPr>
          <a:xfrm>
            <a:off x="293558" y="9724869"/>
            <a:ext cx="739514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Copperplate Gothic Light"/>
              </a:rPr>
              <a:t>Progress History</a:t>
            </a:r>
          </a:p>
          <a:p>
            <a:r>
              <a:rPr lang="en-US" sz="2000">
                <a:solidFill>
                  <a:schemeClr val="accent4">
                    <a:lumMod val="20000"/>
                    <a:lumOff val="80000"/>
                  </a:schemeClr>
                </a:solidFill>
                <a:latin typeface="Baguet Script"/>
              </a:rPr>
              <a:t>Review completed quests, XP earned, </a:t>
            </a:r>
          </a:p>
          <a:p>
            <a:r>
              <a:rPr lang="en-US" sz="2000">
                <a:solidFill>
                  <a:schemeClr val="accent4">
                    <a:lumMod val="20000"/>
                    <a:lumOff val="80000"/>
                  </a:schemeClr>
                </a:solidFill>
                <a:latin typeface="Baguet Script"/>
              </a:rPr>
              <a:t>statistics, and past achievements.</a:t>
            </a:r>
            <a:endParaRPr lang="en-US" sz="200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endParaRPr lang="en-U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6A92FB-CA37-908A-CE0C-EE23C5B06A6B}"/>
              </a:ext>
            </a:extLst>
          </p:cNvPr>
          <p:cNvSpPr txBox="1"/>
          <p:nvPr/>
        </p:nvSpPr>
        <p:spPr>
          <a:xfrm>
            <a:off x="3491460" y="7882329"/>
            <a:ext cx="701414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FFC000"/>
                </a:solidFill>
                <a:latin typeface="Copperplate Gothic Light"/>
              </a:rPr>
              <a:t>Data Export</a:t>
            </a:r>
          </a:p>
          <a:p>
            <a:r>
              <a:rPr lang="en-US" sz="3600">
                <a:solidFill>
                  <a:srgbClr val="D9BE6C"/>
                </a:solidFill>
                <a:latin typeface="Baguet Script"/>
              </a:rPr>
              <a:t>Export quest history and progress </a:t>
            </a:r>
          </a:p>
          <a:p>
            <a:r>
              <a:rPr lang="en-US" sz="3600">
                <a:solidFill>
                  <a:srgbClr val="D9BE6C"/>
                </a:solidFill>
                <a:latin typeface="Baguet Script"/>
              </a:rPr>
              <a:t>as CSV/TXT files.</a:t>
            </a:r>
            <a:endParaRPr lang="en-US" sz="3600"/>
          </a:p>
          <a:p>
            <a:pPr algn="ctr"/>
            <a:endParaRPr lang="en-US" sz="320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4B825-268D-35DA-61FE-1ACCA1404A93}"/>
              </a:ext>
            </a:extLst>
          </p:cNvPr>
          <p:cNvSpPr txBox="1"/>
          <p:nvPr/>
        </p:nvSpPr>
        <p:spPr>
          <a:xfrm>
            <a:off x="4509541" y="2498360"/>
            <a:ext cx="6901721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accent5">
                    <a:lumMod val="20000"/>
                    <a:lumOff val="80000"/>
                  </a:schemeClr>
                </a:solidFill>
                <a:latin typeface="Footlight MT Light"/>
              </a:rPr>
              <a:t>Life RPG combines productivity tools with an interactive RPG experience.</a:t>
            </a:r>
          </a:p>
          <a:p>
            <a:pPr algn="ctr"/>
            <a:endParaRPr lang="en-US" sz="4400">
              <a:latin typeface="Footlight MT Light"/>
            </a:endParaRPr>
          </a:p>
        </p:txBody>
      </p:sp>
    </p:spTree>
    <p:extLst>
      <p:ext uri="{BB962C8B-B14F-4D97-AF65-F5344CB8AC3E}">
        <p14:creationId xmlns:p14="http://schemas.microsoft.com/office/powerpoint/2010/main" val="4138818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416C-F411-B09F-08B3-7DC0FC57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with a book and a cup of coffee&#10;&#10;AI-generated content may be incorrect.">
            <a:extLst>
              <a:ext uri="{FF2B5EF4-FFF2-40B4-BE49-F238E27FC236}">
                <a16:creationId xmlns:a16="http://schemas.microsoft.com/office/drawing/2014/main" id="{97B47479-4489-2BC0-760C-FC0A5E6797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2725" y="1"/>
            <a:ext cx="12185522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E621DA2-03AB-CBE5-D2F7-F34B945F2308}"/>
              </a:ext>
            </a:extLst>
          </p:cNvPr>
          <p:cNvGrpSpPr/>
          <p:nvPr/>
        </p:nvGrpSpPr>
        <p:grpSpPr>
          <a:xfrm rot="300000">
            <a:off x="-2208246" y="233265"/>
            <a:ext cx="6453673" cy="6391469"/>
            <a:chOff x="590938" y="342122"/>
            <a:chExt cx="6453673" cy="63914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4A2782E-DD8B-92D5-7ECE-30EA4E8D3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741" y="806935"/>
              <a:ext cx="5757765" cy="5711112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06D47CF-ECDF-80C9-98C7-9DD8E9381A51}"/>
                </a:ext>
              </a:extLst>
            </p:cNvPr>
            <p:cNvSpPr/>
            <p:nvPr/>
          </p:nvSpPr>
          <p:spPr>
            <a:xfrm rot="2040000">
              <a:off x="590938" y="342122"/>
              <a:ext cx="6453673" cy="639146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521D1999-04AF-C049-E724-9521DC68CF0F}"/>
              </a:ext>
            </a:extLst>
          </p:cNvPr>
          <p:cNvSpPr/>
          <p:nvPr/>
        </p:nvSpPr>
        <p:spPr>
          <a:xfrm>
            <a:off x="-1560474" y="1370437"/>
            <a:ext cx="171061" cy="1710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17994E-83A1-8E25-D83E-3BD7EEEF01A9}"/>
              </a:ext>
            </a:extLst>
          </p:cNvPr>
          <p:cNvSpPr/>
          <p:nvPr/>
        </p:nvSpPr>
        <p:spPr>
          <a:xfrm>
            <a:off x="-2279107" y="2688843"/>
            <a:ext cx="171061" cy="1710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4F9C74-36A2-91D5-20C7-35712A56CDF7}"/>
              </a:ext>
            </a:extLst>
          </p:cNvPr>
          <p:cNvSpPr/>
          <p:nvPr/>
        </p:nvSpPr>
        <p:spPr>
          <a:xfrm>
            <a:off x="-2278320" y="3894779"/>
            <a:ext cx="171061" cy="171061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19BCEE-FE5B-A7CF-733E-2D73953EEE1E}"/>
              </a:ext>
            </a:extLst>
          </p:cNvPr>
          <p:cNvSpPr/>
          <p:nvPr/>
        </p:nvSpPr>
        <p:spPr>
          <a:xfrm>
            <a:off x="-1558949" y="5489483"/>
            <a:ext cx="171061" cy="171061"/>
          </a:xfrm>
          <a:prstGeom prst="ellipse">
            <a:avLst/>
          </a:prstGeom>
          <a:solidFill>
            <a:srgbClr val="D47FBE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FAF8C76-F38D-5CBE-A555-6765AFE9F6B0}"/>
              </a:ext>
            </a:extLst>
          </p:cNvPr>
          <p:cNvSpPr/>
          <p:nvPr/>
        </p:nvSpPr>
        <p:spPr>
          <a:xfrm>
            <a:off x="-1733956" y="5573955"/>
            <a:ext cx="171061" cy="171061"/>
          </a:xfrm>
          <a:prstGeom prst="ellipse">
            <a:avLst/>
          </a:prstGeom>
          <a:solidFill>
            <a:srgbClr val="388C8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940F0D-8A3A-44AD-5B01-4FE5A3464165}"/>
              </a:ext>
            </a:extLst>
          </p:cNvPr>
          <p:cNvSpPr txBox="1"/>
          <p:nvPr/>
        </p:nvSpPr>
        <p:spPr>
          <a:xfrm>
            <a:off x="293558" y="9724869"/>
            <a:ext cx="739514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Copperplate Gothic Light"/>
              </a:rPr>
              <a:t>Progress History</a:t>
            </a:r>
          </a:p>
          <a:p>
            <a:r>
              <a:rPr lang="en-US" sz="2000">
                <a:solidFill>
                  <a:schemeClr val="accent4">
                    <a:lumMod val="20000"/>
                    <a:lumOff val="80000"/>
                  </a:schemeClr>
                </a:solidFill>
                <a:latin typeface="Baguet Script"/>
              </a:rPr>
              <a:t>Review completed quests, XP earned, </a:t>
            </a:r>
          </a:p>
          <a:p>
            <a:r>
              <a:rPr lang="en-US" sz="2000">
                <a:solidFill>
                  <a:schemeClr val="accent4">
                    <a:lumMod val="20000"/>
                    <a:lumOff val="80000"/>
                  </a:schemeClr>
                </a:solidFill>
                <a:latin typeface="Baguet Script"/>
              </a:rPr>
              <a:t>statistics, and past achievements.</a:t>
            </a:r>
            <a:endParaRPr lang="en-US" sz="200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endParaRPr lang="en-U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5E1DC2-BE4D-5362-36B2-FE811CF6D3D6}"/>
              </a:ext>
            </a:extLst>
          </p:cNvPr>
          <p:cNvSpPr txBox="1"/>
          <p:nvPr/>
        </p:nvSpPr>
        <p:spPr>
          <a:xfrm>
            <a:off x="3491460" y="7882329"/>
            <a:ext cx="701414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FFC000"/>
                </a:solidFill>
                <a:latin typeface="Copperplate Gothic Light"/>
              </a:rPr>
              <a:t>Data Export</a:t>
            </a:r>
          </a:p>
          <a:p>
            <a:r>
              <a:rPr lang="en-US" sz="3600">
                <a:solidFill>
                  <a:srgbClr val="D9BE6C"/>
                </a:solidFill>
                <a:latin typeface="Baguet Script"/>
              </a:rPr>
              <a:t>Export quest history and progress </a:t>
            </a:r>
          </a:p>
          <a:p>
            <a:r>
              <a:rPr lang="en-US" sz="3600">
                <a:solidFill>
                  <a:srgbClr val="D9BE6C"/>
                </a:solidFill>
                <a:latin typeface="Baguet Script"/>
              </a:rPr>
              <a:t>as CSV/TXT files.</a:t>
            </a:r>
            <a:endParaRPr lang="en-US" sz="3600"/>
          </a:p>
          <a:p>
            <a:pPr algn="ctr"/>
            <a:endParaRPr lang="en-US" sz="320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FA0C9-4480-E5FA-EEC1-64F6016EE42D}"/>
              </a:ext>
            </a:extLst>
          </p:cNvPr>
          <p:cNvSpPr txBox="1"/>
          <p:nvPr/>
        </p:nvSpPr>
        <p:spPr>
          <a:xfrm>
            <a:off x="6407166" y="2774373"/>
            <a:ext cx="690172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Footlight MT Light"/>
              </a:rPr>
              <a:t>Thank you!!</a:t>
            </a:r>
          </a:p>
          <a:p>
            <a:pPr algn="ctr"/>
            <a:endParaRPr lang="en-US" sz="4400" dirty="0">
              <a:latin typeface="Footlight MT Light"/>
            </a:endParaRPr>
          </a:p>
        </p:txBody>
      </p:sp>
    </p:spTree>
    <p:extLst>
      <p:ext uri="{BB962C8B-B14F-4D97-AF65-F5344CB8AC3E}">
        <p14:creationId xmlns:p14="http://schemas.microsoft.com/office/powerpoint/2010/main" val="1160671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1550</TotalTime>
  <Words>1066</Words>
  <Application>Microsoft Office PowerPoint</Application>
  <PresentationFormat>Widescreen</PresentationFormat>
  <Paragraphs>249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Aptos Display</vt:lpstr>
      <vt:lpstr>Aptos</vt:lpstr>
      <vt:lpstr>Centaur Now Text</vt:lpstr>
      <vt:lpstr>Footlight MT Light</vt:lpstr>
      <vt:lpstr>Bell MT</vt:lpstr>
      <vt:lpstr>Modern No. 20</vt:lpstr>
      <vt:lpstr>Dreaming Outloud Pro</vt:lpstr>
      <vt:lpstr>Berlin Sans FB</vt:lpstr>
      <vt:lpstr>Baguet Script</vt:lpstr>
      <vt:lpstr>Arial</vt:lpstr>
      <vt:lpstr>Copperplate Gothic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71</cp:revision>
  <dcterms:created xsi:type="dcterms:W3CDTF">2026-09-14T09:09:03Z</dcterms:created>
  <dcterms:modified xsi:type="dcterms:W3CDTF">2026-10-17T10:02:23Z</dcterms:modified>
</cp:coreProperties>
</file>